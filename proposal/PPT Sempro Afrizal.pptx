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1"/>
  </p:notesMasterIdLst>
  <p:sldIdLst>
    <p:sldId id="256" r:id="rId2"/>
    <p:sldId id="262" r:id="rId3"/>
    <p:sldId id="310" r:id="rId4"/>
    <p:sldId id="311" r:id="rId5"/>
    <p:sldId id="312" r:id="rId6"/>
    <p:sldId id="313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4" r:id="rId16"/>
    <p:sldId id="326" r:id="rId17"/>
    <p:sldId id="325" r:id="rId18"/>
    <p:sldId id="327" r:id="rId19"/>
    <p:sldId id="328" r:id="rId20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2"/>
    </p:embeddedFont>
    <p:embeddedFont>
      <p:font typeface="Epilogue" panose="020B0604020202020204" charset="0"/>
      <p:regular r:id="rId23"/>
      <p:bold r:id="rId24"/>
      <p:italic r:id="rId25"/>
      <p:boldItalic r:id="rId26"/>
    </p:embeddedFont>
    <p:embeddedFont>
      <p:font typeface="Karla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754C"/>
    <a:srgbClr val="FAFAFA"/>
    <a:srgbClr val="6193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E68B4A-DFB4-4A63-B452-6692C6F5662D}">
  <a:tblStyle styleId="{8DE68B4A-DFB4-4A63-B452-6692C6F566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594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21caab1d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21caab1d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F7EB26EE-CAB5-F778-CC8D-13F53D92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1250FBD9-DBE0-6ECC-EB76-81DA267404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157CE411-9567-15F6-C7B3-17FEEF8EF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339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831CC65F-7C01-6F7C-D559-F164302E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E4D32795-F78D-0AFC-0649-95744B5CA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FBF9B331-F651-9D77-8A8A-D7578F6805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084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4AE7B904-77F0-A771-1F83-96725F1C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B9B12E5A-5048-7DFA-9E87-54BDB1B4FC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CB4CF9EA-0383-D811-9C47-04FAF762F1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00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AF1944BD-BF40-AD54-4F66-5D79188A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05C77181-4A6A-7F9F-7238-668AAA992A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E995EEFD-C133-BCF9-5819-BBECC67225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45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3F3BDF0A-53EC-9FCD-3F9C-D305F10A4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C880BBC8-DEBA-6CC6-B604-6CEFE3D29B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7A1B87A6-6EDF-C281-FF3D-6B496CE42A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8203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FFA6D471-F392-E979-3F70-E5DB5DA2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51BE7D18-990F-8F66-6B11-597FCF0D7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A78715FE-C192-0206-06FD-31D1C03B12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345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5872A811-DD60-30C6-7FAA-81A065FF9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92FF3807-E9D5-ED3A-E719-6DE582259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5FBFE993-4527-C6A6-58F2-18245A8F2F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469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145C795A-8C3F-F613-6E98-77C04DAC0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02F37E0D-3509-F859-4E90-7FCC8C4CDC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23430D04-314A-1C76-2589-2D425EED8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7493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6509D9C7-5306-7EED-A9D2-A10621A6E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E0FF4F7F-E6F9-3DB6-068F-141C302D1F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9DD3886D-281C-E3C8-894C-D04D5BFCE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3481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85E3C700-E6FB-A23F-672E-1F973C811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99E8CC66-8AFA-2A91-67B5-2632378D2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599C8232-B4C4-1658-EA98-7424CE9A9A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2651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A973BFAD-57C5-ADEE-AA06-A9765C32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714E1DC8-9759-ECE0-A38E-0E968892CE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98133F64-D41A-DA0F-D622-04C86A2E0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4055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34E1EA36-6BA6-BE64-98DE-4EDD2030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C36EACA5-CE53-7A95-A24A-92F081FF44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A6DF842C-9463-CA8E-D477-DF6E1EE369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4073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F1B1BC2A-9B8B-3C9A-09DE-E3784226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CA0FA892-90C8-5730-8717-888973A43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2468B726-A882-D4EB-E77C-877AFEDC39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725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4FEF8869-60CF-D869-C0A1-355CCCD7F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FEE492B8-2F1E-01F9-8893-C4D8716EFA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C34610A9-4721-7891-1403-79A2F6F8B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1794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A1382925-29C3-B62A-B0A1-EE3D437FC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5FDF89EB-8228-A933-27F4-59AAE964D8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4F6B9749-72A1-EE9C-1E6C-C3F13389E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0465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28DB541C-4370-C194-94A7-F018442FD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D4C9259B-7F2C-40BA-B134-26993487B0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8CDDF462-A61D-587C-2FED-721E6A4B0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71966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FED480F2-8E39-40BC-BA47-A791E2D3E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c9050bdf8_0_273:notes">
            <a:extLst>
              <a:ext uri="{FF2B5EF4-FFF2-40B4-BE49-F238E27FC236}">
                <a16:creationId xmlns:a16="http://schemas.microsoft.com/office/drawing/2014/main" id="{D95E1B3E-55E7-3A28-E4EC-2E12340559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c9050bdf8_0_273:notes">
            <a:extLst>
              <a:ext uri="{FF2B5EF4-FFF2-40B4-BE49-F238E27FC236}">
                <a16:creationId xmlns:a16="http://schemas.microsoft.com/office/drawing/2014/main" id="{F6181439-8192-BFAB-A42C-2917EBAC1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842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497395"/>
            <a:ext cx="5892300" cy="282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4121395"/>
            <a:ext cx="3852000" cy="47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>
            <a:spLocks noGrp="1"/>
          </p:cNvSpPr>
          <p:nvPr>
            <p:ph type="title"/>
          </p:nvPr>
        </p:nvSpPr>
        <p:spPr>
          <a:xfrm rot="-1102">
            <a:off x="643800" y="1943650"/>
            <a:ext cx="2808300" cy="4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ubTitle" idx="1"/>
          </p:nvPr>
        </p:nvSpPr>
        <p:spPr>
          <a:xfrm rot="367">
            <a:off x="643800" y="2379752"/>
            <a:ext cx="2808300" cy="48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title" idx="2"/>
          </p:nvPr>
        </p:nvSpPr>
        <p:spPr>
          <a:xfrm>
            <a:off x="3165325" y="3363325"/>
            <a:ext cx="2808300" cy="4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subTitle" idx="3"/>
          </p:nvPr>
        </p:nvSpPr>
        <p:spPr>
          <a:xfrm>
            <a:off x="3165325" y="3801075"/>
            <a:ext cx="28083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title" idx="4"/>
          </p:nvPr>
        </p:nvSpPr>
        <p:spPr>
          <a:xfrm>
            <a:off x="5690875" y="1943250"/>
            <a:ext cx="2808300" cy="4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ubTitle" idx="5"/>
          </p:nvPr>
        </p:nvSpPr>
        <p:spPr>
          <a:xfrm>
            <a:off x="5690875" y="2380075"/>
            <a:ext cx="2808300" cy="48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/>
          <p:nvPr/>
        </p:nvSpPr>
        <p:spPr>
          <a:xfrm>
            <a:off x="-1800" y="3607575"/>
            <a:ext cx="9147600" cy="153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2"/>
          <p:cNvSpPr/>
          <p:nvPr/>
        </p:nvSpPr>
        <p:spPr>
          <a:xfrm>
            <a:off x="6553800" y="181200"/>
            <a:ext cx="2590200" cy="14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/>
          <p:nvPr/>
        </p:nvSpPr>
        <p:spPr>
          <a:xfrm>
            <a:off x="7235324" y="1241500"/>
            <a:ext cx="1190700" cy="392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8_1_1"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/>
          <p:nvPr/>
        </p:nvSpPr>
        <p:spPr>
          <a:xfrm>
            <a:off x="0" y="1108125"/>
            <a:ext cx="5800800" cy="128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Char char="●"/>
              <a:defRPr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Char char="○"/>
              <a:defRPr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Char char="■"/>
              <a:defRPr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Char char="●"/>
              <a:defRPr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Char char="○"/>
              <a:defRPr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Char char="■"/>
              <a:defRPr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Char char="●"/>
              <a:defRPr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Char char="○"/>
              <a:defRPr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Char char="■"/>
              <a:defRPr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8" r:id="rId3"/>
    <p:sldLayoutId id="2147483678" r:id="rId4"/>
    <p:sldLayoutId id="2147483679" r:id="rId5"/>
    <p:sldLayoutId id="214748368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8"/>
          <p:cNvSpPr txBox="1">
            <a:spLocks noGrp="1"/>
          </p:cNvSpPr>
          <p:nvPr>
            <p:ph type="ctrTitle"/>
          </p:nvPr>
        </p:nvSpPr>
        <p:spPr>
          <a:xfrm>
            <a:off x="496480" y="1041093"/>
            <a:ext cx="4019640" cy="5599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SEMINAR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187" name="Google Shape;187;p38"/>
          <p:cNvSpPr txBox="1">
            <a:spLocks noGrp="1"/>
          </p:cNvSpPr>
          <p:nvPr>
            <p:ph type="subTitle" idx="1"/>
          </p:nvPr>
        </p:nvSpPr>
        <p:spPr>
          <a:xfrm>
            <a:off x="552360" y="2245030"/>
            <a:ext cx="6579960" cy="11163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lnSpc>
                <a:spcPct val="150000"/>
              </a:lnSpc>
            </a:pPr>
            <a:r>
              <a:rPr lang="en-US" sz="1400" dirty="0" err="1">
                <a:latin typeface="Epilogue" panose="020B0604020202020204" charset="0"/>
              </a:rPr>
              <a:t>Implementasi</a:t>
            </a:r>
            <a:r>
              <a:rPr lang="en-US" sz="1400" dirty="0">
                <a:latin typeface="Epilogue" panose="020B0604020202020204" charset="0"/>
              </a:rPr>
              <a:t> </a:t>
            </a:r>
            <a:r>
              <a:rPr lang="en-US" sz="1400" dirty="0" err="1">
                <a:latin typeface="Epilogue" panose="020B0604020202020204" charset="0"/>
              </a:rPr>
              <a:t>Algoritma</a:t>
            </a:r>
            <a:r>
              <a:rPr lang="en-US" sz="1400" dirty="0">
                <a:latin typeface="Epilogue" panose="020B0604020202020204" charset="0"/>
              </a:rPr>
              <a:t> </a:t>
            </a:r>
            <a:r>
              <a:rPr lang="en-US" sz="1400" dirty="0" err="1">
                <a:latin typeface="Epilogue" panose="020B0604020202020204" charset="0"/>
              </a:rPr>
              <a:t>Kriptografi</a:t>
            </a:r>
            <a:r>
              <a:rPr lang="en-US" sz="1400" dirty="0">
                <a:latin typeface="Epilogue" panose="020B0604020202020204" charset="0"/>
              </a:rPr>
              <a:t> </a:t>
            </a:r>
            <a:r>
              <a:rPr lang="en-US" sz="1400" i="1" dirty="0">
                <a:latin typeface="Epilogue" panose="020B0604020202020204" charset="0"/>
              </a:rPr>
              <a:t>Advance Hill Cipher </a:t>
            </a:r>
            <a:r>
              <a:rPr lang="en-US" sz="1400" dirty="0" err="1">
                <a:latin typeface="Epilogue" panose="020B0604020202020204" charset="0"/>
              </a:rPr>
              <a:t>Dengan</a:t>
            </a:r>
            <a:r>
              <a:rPr lang="en-US" sz="1400" dirty="0">
                <a:latin typeface="Epilogue" panose="020B0604020202020204" charset="0"/>
              </a:rPr>
              <a:t> </a:t>
            </a:r>
            <a:r>
              <a:rPr lang="en-US" sz="1400" dirty="0" err="1">
                <a:latin typeface="Epilogue" panose="020B0604020202020204" charset="0"/>
              </a:rPr>
              <a:t>Kunci</a:t>
            </a:r>
            <a:r>
              <a:rPr lang="en-US" sz="1400" dirty="0">
                <a:latin typeface="Epilogue" panose="020B0604020202020204" charset="0"/>
              </a:rPr>
              <a:t> </a:t>
            </a:r>
            <a:r>
              <a:rPr lang="en-US" sz="1400" dirty="0" err="1">
                <a:latin typeface="Epilogue" panose="020B0604020202020204" charset="0"/>
              </a:rPr>
              <a:t>Terenkripsi</a:t>
            </a:r>
            <a:r>
              <a:rPr lang="en-US" sz="1400" dirty="0">
                <a:latin typeface="Epilogue" panose="020B0604020202020204" charset="0"/>
              </a:rPr>
              <a:t> </a:t>
            </a:r>
            <a:r>
              <a:rPr lang="en-US" sz="1400" i="1" dirty="0">
                <a:latin typeface="Epilogue" panose="020B0604020202020204" charset="0"/>
              </a:rPr>
              <a:t>ElGamal</a:t>
            </a:r>
            <a:r>
              <a:rPr lang="en-US" sz="1400" dirty="0">
                <a:latin typeface="Epilogue" panose="020B0604020202020204" charset="0"/>
              </a:rPr>
              <a:t> </a:t>
            </a:r>
            <a:r>
              <a:rPr lang="en-US" sz="1400" dirty="0" err="1">
                <a:latin typeface="Epilogue" panose="020B0604020202020204" charset="0"/>
              </a:rPr>
              <a:t>Untuk</a:t>
            </a:r>
            <a:r>
              <a:rPr lang="en-US" sz="1400" dirty="0">
                <a:latin typeface="Epilogue" panose="020B0604020202020204" charset="0"/>
              </a:rPr>
              <a:t> </a:t>
            </a:r>
            <a:r>
              <a:rPr lang="en-US" sz="1400" dirty="0" err="1">
                <a:latin typeface="Epilogue" panose="020B0604020202020204" charset="0"/>
              </a:rPr>
              <a:t>Enkripsi</a:t>
            </a:r>
            <a:r>
              <a:rPr lang="en-US" sz="1400" dirty="0">
                <a:latin typeface="Epilogue" panose="020B0604020202020204" charset="0"/>
              </a:rPr>
              <a:t> Citra Digital </a:t>
            </a:r>
            <a:r>
              <a:rPr lang="en-US" sz="1400" dirty="0" err="1">
                <a:latin typeface="Epilogue" panose="020B0604020202020204" charset="0"/>
              </a:rPr>
              <a:t>Berwarna</a:t>
            </a:r>
            <a:r>
              <a:rPr lang="en-US" sz="1400" dirty="0">
                <a:latin typeface="Epilogue" panose="020B0604020202020204" charset="0"/>
              </a:rPr>
              <a:t> </a:t>
            </a:r>
            <a:endParaRPr sz="1400" dirty="0">
              <a:latin typeface="Epilogue" panose="020B0604020202020204" charset="0"/>
            </a:endParaRPr>
          </a:p>
        </p:txBody>
      </p:sp>
      <p:sp>
        <p:nvSpPr>
          <p:cNvPr id="6" name="Google Shape;187;p38">
            <a:extLst>
              <a:ext uri="{FF2B5EF4-FFF2-40B4-BE49-F238E27FC236}">
                <a16:creationId xmlns:a16="http://schemas.microsoft.com/office/drawing/2014/main" id="{34A12071-3831-EDD7-6CEA-0E7BA2941503}"/>
              </a:ext>
            </a:extLst>
          </p:cNvPr>
          <p:cNvSpPr txBox="1">
            <a:spLocks/>
          </p:cNvSpPr>
          <p:nvPr/>
        </p:nvSpPr>
        <p:spPr>
          <a:xfrm>
            <a:off x="552360" y="4121629"/>
            <a:ext cx="3448140" cy="636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6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n-US" sz="1200" dirty="0" err="1">
                <a:latin typeface="Epilogue" panose="020B0604020202020204" charset="0"/>
              </a:rPr>
              <a:t>Pembimbing</a:t>
            </a:r>
            <a:r>
              <a:rPr lang="en-US" sz="1200" dirty="0">
                <a:latin typeface="Epilogue" panose="020B0604020202020204" charset="0"/>
              </a:rPr>
              <a:t> 1: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1" dirty="0">
                <a:latin typeface="Epilogue" panose="020B0604020202020204" charset="0"/>
              </a:rPr>
              <a:t>Dr. Wahyuni Abidin, </a:t>
            </a:r>
            <a:r>
              <a:rPr lang="en-US" sz="1200" b="1" dirty="0" err="1">
                <a:latin typeface="Epilogue" panose="020B0604020202020204" charset="0"/>
              </a:rPr>
              <a:t>S.Pd</a:t>
            </a:r>
            <a:r>
              <a:rPr lang="en-US" sz="1200" b="1" dirty="0">
                <a:latin typeface="Epilogue" panose="020B0604020202020204" charset="0"/>
              </a:rPr>
              <a:t>., </a:t>
            </a:r>
            <a:r>
              <a:rPr lang="en-US" sz="1200" b="1" dirty="0" err="1">
                <a:latin typeface="Epilogue" panose="020B0604020202020204" charset="0"/>
              </a:rPr>
              <a:t>M.Pd</a:t>
            </a:r>
            <a:endParaRPr lang="en-US" sz="1200" b="1" dirty="0">
              <a:latin typeface="Epilogue" panose="020B0604020202020204" charset="0"/>
            </a:endParaRPr>
          </a:p>
        </p:txBody>
      </p:sp>
      <p:sp>
        <p:nvSpPr>
          <p:cNvPr id="7" name="Google Shape;187;p38">
            <a:extLst>
              <a:ext uri="{FF2B5EF4-FFF2-40B4-BE49-F238E27FC236}">
                <a16:creationId xmlns:a16="http://schemas.microsoft.com/office/drawing/2014/main" id="{74B401D7-A840-F1C1-4C5F-0ED662D825F1}"/>
              </a:ext>
            </a:extLst>
          </p:cNvPr>
          <p:cNvSpPr txBox="1">
            <a:spLocks/>
          </p:cNvSpPr>
          <p:nvPr/>
        </p:nvSpPr>
        <p:spPr>
          <a:xfrm>
            <a:off x="4415700" y="4121628"/>
            <a:ext cx="4012020" cy="636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6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n-US" sz="1200" dirty="0" err="1">
                <a:latin typeface="Epilogue" panose="020B0604020202020204" charset="0"/>
              </a:rPr>
              <a:t>Pembimbing</a:t>
            </a:r>
            <a:r>
              <a:rPr lang="en-US" sz="1200" dirty="0">
                <a:latin typeface="Epilogue" panose="020B0604020202020204" charset="0"/>
              </a:rPr>
              <a:t> 2: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1" dirty="0" err="1">
                <a:latin typeface="Epilogue" panose="020B0604020202020204" charset="0"/>
              </a:rPr>
              <a:t>Hikmawati</a:t>
            </a:r>
            <a:r>
              <a:rPr lang="en-US" sz="1200" b="1" dirty="0">
                <a:latin typeface="Epilogue" panose="020B0604020202020204" charset="0"/>
              </a:rPr>
              <a:t> </a:t>
            </a:r>
            <a:r>
              <a:rPr lang="en-US" sz="1200" b="1" dirty="0" err="1">
                <a:latin typeface="Epilogue" panose="020B0604020202020204" charset="0"/>
              </a:rPr>
              <a:t>Pathuddin</a:t>
            </a:r>
            <a:r>
              <a:rPr lang="en-US" sz="1200" b="1" dirty="0">
                <a:latin typeface="Epilogue" panose="020B0604020202020204" charset="0"/>
              </a:rPr>
              <a:t>, </a:t>
            </a:r>
            <a:r>
              <a:rPr lang="en-US" sz="1200" b="1" dirty="0" err="1">
                <a:latin typeface="Epilogue" panose="020B0604020202020204" charset="0"/>
              </a:rPr>
              <a:t>S.Pd</a:t>
            </a:r>
            <a:r>
              <a:rPr lang="en-US" sz="1200" b="1" dirty="0">
                <a:latin typeface="Epilogue" panose="020B0604020202020204" charset="0"/>
              </a:rPr>
              <a:t>., </a:t>
            </a:r>
            <a:r>
              <a:rPr lang="en-US" sz="1200" b="1" dirty="0" err="1">
                <a:latin typeface="Epilogue" panose="020B0604020202020204" charset="0"/>
              </a:rPr>
              <a:t>M.Si</a:t>
            </a:r>
            <a:endParaRPr lang="en-US" sz="1200" b="1" dirty="0">
              <a:latin typeface="Epilogue" panose="020B0604020202020204" charset="0"/>
            </a:endParaRPr>
          </a:p>
        </p:txBody>
      </p:sp>
      <p:sp>
        <p:nvSpPr>
          <p:cNvPr id="8" name="Google Shape;187;p38">
            <a:extLst>
              <a:ext uri="{FF2B5EF4-FFF2-40B4-BE49-F238E27FC236}">
                <a16:creationId xmlns:a16="http://schemas.microsoft.com/office/drawing/2014/main" id="{4D4A8E66-FAE1-E2CF-C1D0-4B57EFE6502E}"/>
              </a:ext>
            </a:extLst>
          </p:cNvPr>
          <p:cNvSpPr txBox="1">
            <a:spLocks/>
          </p:cNvSpPr>
          <p:nvPr/>
        </p:nvSpPr>
        <p:spPr>
          <a:xfrm>
            <a:off x="552360" y="3387406"/>
            <a:ext cx="3501480" cy="547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6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Karla"/>
              <a:buNone/>
              <a:defRPr sz="28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n-US" b="1" dirty="0">
                <a:latin typeface="Epilogue" panose="020B0604020202020204" charset="0"/>
              </a:rPr>
              <a:t>MUH. AFRIZAL NUR / </a:t>
            </a:r>
            <a:r>
              <a:rPr lang="en-US" dirty="0">
                <a:latin typeface="Epilogue" panose="020B0604020202020204" charset="0"/>
              </a:rPr>
              <a:t>60600122061</a:t>
            </a:r>
            <a:endParaRPr lang="en-US" b="1" dirty="0">
              <a:latin typeface="Epilogue" panose="020B0604020202020204" charset="0"/>
            </a:endParaRPr>
          </a:p>
        </p:txBody>
      </p:sp>
      <p:sp>
        <p:nvSpPr>
          <p:cNvPr id="9" name="Google Shape;186;p38">
            <a:extLst>
              <a:ext uri="{FF2B5EF4-FFF2-40B4-BE49-F238E27FC236}">
                <a16:creationId xmlns:a16="http://schemas.microsoft.com/office/drawing/2014/main" id="{1A329226-087F-0615-A4A9-4DDF22AAF63E}"/>
              </a:ext>
            </a:extLst>
          </p:cNvPr>
          <p:cNvSpPr txBox="1">
            <a:spLocks/>
          </p:cNvSpPr>
          <p:nvPr/>
        </p:nvSpPr>
        <p:spPr>
          <a:xfrm>
            <a:off x="496480" y="1680980"/>
            <a:ext cx="4019640" cy="55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Epilogue"/>
              <a:buNone/>
              <a:defRPr sz="52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b="1" dirty="0"/>
              <a:t>PROPOSAL</a:t>
            </a:r>
            <a:endParaRPr lang="en-US" b="1" dirty="0">
              <a:solidFill>
                <a:srgbClr val="CC0000"/>
              </a:solidFill>
            </a:endParaRPr>
          </a:p>
        </p:txBody>
      </p:sp>
      <p:sp>
        <p:nvSpPr>
          <p:cNvPr id="10" name="Google Shape;185;p38">
            <a:extLst>
              <a:ext uri="{FF2B5EF4-FFF2-40B4-BE49-F238E27FC236}">
                <a16:creationId xmlns:a16="http://schemas.microsoft.com/office/drawing/2014/main" id="{094D31A7-768E-FA4E-DF8D-EAAC0567D39D}"/>
              </a:ext>
            </a:extLst>
          </p:cNvPr>
          <p:cNvSpPr/>
          <p:nvPr/>
        </p:nvSpPr>
        <p:spPr>
          <a:xfrm rot="5400000">
            <a:off x="5953760" y="1841505"/>
            <a:ext cx="5143499" cy="146050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4BA1CD-D10F-8C3C-6DEC-71EC06FBF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47" y="94299"/>
            <a:ext cx="479757" cy="617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/>
          <p:cNvSpPr txBox="1">
            <a:spLocks noGrp="1"/>
          </p:cNvSpPr>
          <p:nvPr>
            <p:ph type="title" idx="6"/>
          </p:nvPr>
        </p:nvSpPr>
        <p:spPr>
          <a:xfrm>
            <a:off x="318069" y="383255"/>
            <a:ext cx="3587504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Latar Belakang [1]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01EA7A67-3742-61CE-0A91-06903E2E616E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216EA686-AFA8-726B-AB02-F4556E813C53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87;p38">
            <a:extLst>
              <a:ext uri="{FF2B5EF4-FFF2-40B4-BE49-F238E27FC236}">
                <a16:creationId xmlns:a16="http://schemas.microsoft.com/office/drawing/2014/main" id="{EEDB89DF-EA2C-97AD-CF07-500F3ABD83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4823" y="934649"/>
            <a:ext cx="8560217" cy="18931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Perkembangan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mendorong</a:t>
            </a:r>
            <a:r>
              <a:rPr lang="en-US" sz="1200" dirty="0"/>
              <a:t> </a:t>
            </a:r>
            <a:r>
              <a:rPr lang="en-US" sz="1200" dirty="0" err="1"/>
              <a:t>penggunaan</a:t>
            </a:r>
            <a:r>
              <a:rPr lang="en-US" sz="1200" dirty="0"/>
              <a:t> internet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masif</a:t>
            </a:r>
            <a:r>
              <a:rPr lang="en-US" sz="1200" dirty="0"/>
              <a:t> di </a:t>
            </a:r>
            <a:r>
              <a:rPr lang="en-US" sz="1200" dirty="0" err="1"/>
              <a:t>berbagai</a:t>
            </a:r>
            <a:r>
              <a:rPr lang="en-US" sz="1200" dirty="0"/>
              <a:t> </a:t>
            </a:r>
            <a:r>
              <a:rPr lang="en-US" sz="1200" dirty="0" err="1"/>
              <a:t>bidang</a:t>
            </a:r>
            <a:r>
              <a:rPr lang="en-US" sz="1200" dirty="0"/>
              <a:t> </a:t>
            </a:r>
            <a:r>
              <a:rPr lang="en-US" sz="1200" dirty="0" err="1"/>
              <a:t>kehidupan</a:t>
            </a:r>
            <a:r>
              <a:rPr lang="en-US" sz="1200" dirty="0"/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Menurut</a:t>
            </a:r>
            <a:r>
              <a:rPr lang="en-US" sz="1200" dirty="0"/>
              <a:t> </a:t>
            </a:r>
            <a:r>
              <a:rPr lang="en-US" sz="1200" dirty="0" err="1"/>
              <a:t>laporan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Asosiasi</a:t>
            </a:r>
            <a:r>
              <a:rPr lang="en-US" sz="1200" dirty="0"/>
              <a:t> </a:t>
            </a:r>
            <a:r>
              <a:rPr lang="en-US" sz="1200" dirty="0" err="1"/>
              <a:t>Penyelenggara</a:t>
            </a:r>
            <a:r>
              <a:rPr lang="en-US" sz="1200" dirty="0"/>
              <a:t> Jasa Internet Indonesia (APJII), pada </a:t>
            </a:r>
            <a:r>
              <a:rPr lang="en-US" sz="1200" dirty="0" err="1"/>
              <a:t>tahun</a:t>
            </a:r>
            <a:r>
              <a:rPr lang="en-US" sz="1200" dirty="0"/>
              <a:t> 2024, </a:t>
            </a:r>
            <a:r>
              <a:rPr lang="en-US" sz="1200" dirty="0" err="1"/>
              <a:t>jumlah</a:t>
            </a:r>
            <a:r>
              <a:rPr lang="en-US" sz="1200" dirty="0"/>
              <a:t> </a:t>
            </a:r>
            <a:r>
              <a:rPr lang="en-US" sz="1200" dirty="0" err="1"/>
              <a:t>pengguna</a:t>
            </a:r>
            <a:r>
              <a:rPr lang="en-US" sz="1200" dirty="0"/>
              <a:t> internet di Indonesia </a:t>
            </a:r>
            <a:r>
              <a:rPr lang="en-US" sz="1200" dirty="0" err="1"/>
              <a:t>diperkirakan</a:t>
            </a:r>
            <a:r>
              <a:rPr lang="en-US" sz="1200" dirty="0"/>
              <a:t> </a:t>
            </a:r>
            <a:r>
              <a:rPr lang="en-US" sz="1200" dirty="0" err="1"/>
              <a:t>mencapai</a:t>
            </a:r>
            <a:r>
              <a:rPr lang="en-US" sz="1200" dirty="0"/>
              <a:t> 221 </a:t>
            </a:r>
            <a:r>
              <a:rPr lang="en-US" sz="1200" dirty="0" err="1"/>
              <a:t>juta</a:t>
            </a:r>
            <a:r>
              <a:rPr lang="en-US" sz="1200" dirty="0"/>
              <a:t> orang.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Tantangan</a:t>
            </a:r>
            <a:r>
              <a:rPr lang="en-US" sz="1200" dirty="0"/>
              <a:t> </a:t>
            </a:r>
            <a:r>
              <a:rPr lang="en-US" sz="1200" dirty="0" err="1"/>
              <a:t>terhadap</a:t>
            </a:r>
            <a:r>
              <a:rPr lang="en-US" sz="1200" dirty="0"/>
              <a:t> </a:t>
            </a:r>
            <a:r>
              <a:rPr lang="en-US" sz="1200" dirty="0" err="1"/>
              <a:t>keamanan</a:t>
            </a:r>
            <a:r>
              <a:rPr lang="en-US" sz="1200" dirty="0"/>
              <a:t> data juga </a:t>
            </a:r>
            <a:r>
              <a:rPr lang="en-US" sz="1200" dirty="0" err="1"/>
              <a:t>semakin</a:t>
            </a:r>
            <a:r>
              <a:rPr lang="en-US" sz="1200" dirty="0"/>
              <a:t> </a:t>
            </a:r>
            <a:r>
              <a:rPr lang="en-US" sz="1200" dirty="0" err="1"/>
              <a:t>serius</a:t>
            </a:r>
            <a:r>
              <a:rPr lang="en-US" sz="1200" dirty="0"/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Al-Qur’an (QS An-</a:t>
            </a:r>
            <a:r>
              <a:rPr lang="en-US" sz="1200" dirty="0" err="1"/>
              <a:t>Nisā</a:t>
            </a:r>
            <a:r>
              <a:rPr lang="en-US" sz="1200" dirty="0"/>
              <a:t>’ [4]:58) </a:t>
            </a:r>
            <a:r>
              <a:rPr lang="en-US" sz="1200" dirty="0" err="1"/>
              <a:t>memerintahkan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menjaga</a:t>
            </a:r>
            <a:r>
              <a:rPr lang="en-US" sz="1200" dirty="0"/>
              <a:t> </a:t>
            </a:r>
            <a:r>
              <a:rPr lang="en-US" sz="1200" dirty="0" err="1"/>
              <a:t>amanah</a:t>
            </a:r>
            <a:r>
              <a:rPr lang="en-US" sz="1200" dirty="0"/>
              <a:t>, </a:t>
            </a:r>
            <a:r>
              <a:rPr lang="en-US" sz="1200" dirty="0" err="1"/>
              <a:t>termasuk</a:t>
            </a:r>
            <a:r>
              <a:rPr lang="en-US" sz="1200" dirty="0"/>
              <a:t> </a:t>
            </a:r>
            <a:r>
              <a:rPr lang="en-US" sz="1200" dirty="0" err="1"/>
              <a:t>menjaga</a:t>
            </a:r>
            <a:r>
              <a:rPr lang="en-US" sz="1200" dirty="0"/>
              <a:t> </a:t>
            </a:r>
            <a:r>
              <a:rPr lang="en-US" sz="1200" dirty="0" err="1"/>
              <a:t>kerahasiaan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.</a:t>
            </a:r>
          </a:p>
          <a:p>
            <a:pPr marL="139700" indent="0" algn="l"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20" name="Google Shape;187;p38">
            <a:extLst>
              <a:ext uri="{FF2B5EF4-FFF2-40B4-BE49-F238E27FC236}">
                <a16:creationId xmlns:a16="http://schemas.microsoft.com/office/drawing/2014/main" id="{F1535FA1-7E8A-46C8-A404-0D68E167308D}"/>
              </a:ext>
            </a:extLst>
          </p:cNvPr>
          <p:cNvSpPr txBox="1">
            <a:spLocks/>
          </p:cNvSpPr>
          <p:nvPr/>
        </p:nvSpPr>
        <p:spPr>
          <a:xfrm>
            <a:off x="588583" y="2669210"/>
            <a:ext cx="8229599" cy="196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endParaRPr lang="en-US" sz="1200" dirty="0"/>
          </a:p>
          <a:p>
            <a:pPr marL="139700" indent="0" algn="r">
              <a:lnSpc>
                <a:spcPct val="150000"/>
              </a:lnSpc>
            </a:pPr>
            <a:r>
              <a:rPr lang="ar-AE" sz="1600" dirty="0"/>
              <a:t>اِنَّ اللّٰهَ يَأْمُرُكُمْ اَنْ تُؤَدُّوا الْاَمٰنٰتِ اِلٰٓى اَهْلِهَاۙ وَاِذَا حَكَمْتُمْ بَيْنَ النَّاسِ اَنْ تَحْكُمُوْا بِالْعَدْلِ ۗ اِنَّ اللّٰهَ نِعِمَّا يَعِظُكُمْ بِهٖ ۗ اِنَّ اللّٰهَ كَانَ سَمِيْعًاۢ بَصِيْرًا</a:t>
            </a:r>
            <a:endParaRPr lang="en-US" sz="1600" dirty="0"/>
          </a:p>
          <a:p>
            <a:pPr marL="139700" indent="0" algn="just">
              <a:lnSpc>
                <a:spcPct val="150000"/>
              </a:lnSpc>
            </a:pPr>
            <a:r>
              <a:rPr lang="en-US" sz="1100" dirty="0" err="1"/>
              <a:t>Terjemahnya</a:t>
            </a:r>
            <a:r>
              <a:rPr lang="en-US" sz="1100" dirty="0"/>
              <a:t>: “</a:t>
            </a:r>
            <a:r>
              <a:rPr lang="en-US" sz="1100" dirty="0" err="1"/>
              <a:t>Sesungguhnya</a:t>
            </a:r>
            <a:r>
              <a:rPr lang="en-US" sz="1100" dirty="0"/>
              <a:t> Allah </a:t>
            </a:r>
            <a:r>
              <a:rPr lang="en-US" sz="1100" dirty="0" err="1"/>
              <a:t>menyuruh</a:t>
            </a:r>
            <a:r>
              <a:rPr lang="en-US" sz="1100" dirty="0"/>
              <a:t> </a:t>
            </a:r>
            <a:r>
              <a:rPr lang="en-US" sz="1100" dirty="0" err="1"/>
              <a:t>kamu</a:t>
            </a:r>
            <a:r>
              <a:rPr lang="en-US" sz="1100" dirty="0"/>
              <a:t> </a:t>
            </a:r>
            <a:r>
              <a:rPr lang="en-US" sz="1100" dirty="0" err="1"/>
              <a:t>menyampaikan</a:t>
            </a:r>
            <a:r>
              <a:rPr lang="en-US" sz="1100" dirty="0"/>
              <a:t> </a:t>
            </a:r>
            <a:r>
              <a:rPr lang="en-US" sz="1100" dirty="0" err="1"/>
              <a:t>amanat</a:t>
            </a:r>
            <a:r>
              <a:rPr lang="en-US" sz="1100" dirty="0"/>
              <a:t> </a:t>
            </a:r>
            <a:r>
              <a:rPr lang="en-US" sz="1100" dirty="0" err="1"/>
              <a:t>kepada</a:t>
            </a:r>
            <a:r>
              <a:rPr lang="en-US" sz="1100" dirty="0"/>
              <a:t> yang </a:t>
            </a:r>
            <a:r>
              <a:rPr lang="en-US" sz="1100" dirty="0" err="1"/>
              <a:t>berhak</a:t>
            </a:r>
            <a:r>
              <a:rPr lang="en-US" sz="1100" dirty="0"/>
              <a:t> </a:t>
            </a:r>
            <a:r>
              <a:rPr lang="en-US" sz="1100" dirty="0" err="1"/>
              <a:t>menerimanya</a:t>
            </a:r>
            <a:r>
              <a:rPr lang="en-US" sz="1100" dirty="0"/>
              <a:t>, dan (</a:t>
            </a:r>
            <a:r>
              <a:rPr lang="en-US" sz="1100" dirty="0" err="1"/>
              <a:t>menyuruh</a:t>
            </a:r>
            <a:r>
              <a:rPr lang="en-US" sz="1100" dirty="0"/>
              <a:t> </a:t>
            </a:r>
            <a:r>
              <a:rPr lang="en-US" sz="1100" dirty="0" err="1"/>
              <a:t>kamu</a:t>
            </a:r>
            <a:r>
              <a:rPr lang="en-US" sz="1100" dirty="0"/>
              <a:t>) </a:t>
            </a:r>
            <a:r>
              <a:rPr lang="en-US" sz="1100" dirty="0" err="1"/>
              <a:t>apabila</a:t>
            </a:r>
            <a:r>
              <a:rPr lang="en-US" sz="1100" dirty="0"/>
              <a:t> </a:t>
            </a:r>
            <a:r>
              <a:rPr lang="en-US" sz="1100" dirty="0" err="1"/>
              <a:t>menetapkan</a:t>
            </a:r>
            <a:r>
              <a:rPr lang="en-US" sz="1100" dirty="0"/>
              <a:t> </a:t>
            </a:r>
            <a:r>
              <a:rPr lang="en-US" sz="1100" dirty="0" err="1"/>
              <a:t>hukum</a:t>
            </a:r>
            <a:r>
              <a:rPr lang="en-US" sz="1100" dirty="0"/>
              <a:t> di </a:t>
            </a:r>
            <a:r>
              <a:rPr lang="en-US" sz="1100" dirty="0" err="1"/>
              <a:t>antara</a:t>
            </a:r>
            <a:r>
              <a:rPr lang="en-US" sz="1100" dirty="0"/>
              <a:t> </a:t>
            </a:r>
            <a:r>
              <a:rPr lang="en-US" sz="1100" dirty="0" err="1"/>
              <a:t>manusia</a:t>
            </a:r>
            <a:r>
              <a:rPr lang="en-US" sz="1100" dirty="0"/>
              <a:t> </a:t>
            </a:r>
            <a:r>
              <a:rPr lang="en-US" sz="1100" dirty="0" err="1"/>
              <a:t>supaya</a:t>
            </a:r>
            <a:r>
              <a:rPr lang="en-US" sz="1100" dirty="0"/>
              <a:t> </a:t>
            </a:r>
            <a:r>
              <a:rPr lang="en-US" sz="1100" dirty="0" err="1"/>
              <a:t>kamu</a:t>
            </a:r>
            <a:r>
              <a:rPr lang="en-US" sz="1100" dirty="0"/>
              <a:t> </a:t>
            </a:r>
            <a:r>
              <a:rPr lang="en-US" sz="1100" dirty="0" err="1"/>
              <a:t>menetapkan</a:t>
            </a:r>
            <a:r>
              <a:rPr lang="en-US" sz="1100" dirty="0"/>
              <a:t> </a:t>
            </a:r>
            <a:r>
              <a:rPr lang="en-US" sz="1100" dirty="0" err="1"/>
              <a:t>dengan</a:t>
            </a:r>
            <a:r>
              <a:rPr lang="en-US" sz="1100" dirty="0"/>
              <a:t> </a:t>
            </a:r>
            <a:r>
              <a:rPr lang="en-US" sz="1100" dirty="0" err="1"/>
              <a:t>adil</a:t>
            </a:r>
            <a:r>
              <a:rPr lang="en-US" sz="1100" dirty="0"/>
              <a:t>. </a:t>
            </a:r>
            <a:r>
              <a:rPr lang="en-US" sz="1100" dirty="0" err="1"/>
              <a:t>Sesungguhnya</a:t>
            </a:r>
            <a:r>
              <a:rPr lang="en-US" sz="1100" dirty="0"/>
              <a:t> Allah </a:t>
            </a:r>
            <a:r>
              <a:rPr lang="en-US" sz="1100" dirty="0" err="1"/>
              <a:t>memberi</a:t>
            </a:r>
            <a:r>
              <a:rPr lang="en-US" sz="1100" dirty="0"/>
              <a:t> </a:t>
            </a:r>
            <a:r>
              <a:rPr lang="en-US" sz="1100" dirty="0" err="1"/>
              <a:t>pengajaran</a:t>
            </a:r>
            <a:r>
              <a:rPr lang="en-US" sz="1100" dirty="0"/>
              <a:t> yang </a:t>
            </a:r>
            <a:r>
              <a:rPr lang="en-US" sz="1100" dirty="0" err="1"/>
              <a:t>sebaik-baiknya</a:t>
            </a:r>
            <a:r>
              <a:rPr lang="en-US" sz="1100" dirty="0"/>
              <a:t> </a:t>
            </a:r>
            <a:r>
              <a:rPr lang="en-US" sz="1100" dirty="0" err="1"/>
              <a:t>kepadamu</a:t>
            </a:r>
            <a:r>
              <a:rPr lang="en-US" sz="1100" dirty="0"/>
              <a:t>. </a:t>
            </a:r>
            <a:r>
              <a:rPr lang="en-US" sz="1100" dirty="0" err="1"/>
              <a:t>Sesungguhnya</a:t>
            </a:r>
            <a:r>
              <a:rPr lang="en-US" sz="1100" dirty="0"/>
              <a:t> Allah </a:t>
            </a:r>
            <a:r>
              <a:rPr lang="en-US" sz="1100" dirty="0" err="1"/>
              <a:t>adalah</a:t>
            </a:r>
            <a:r>
              <a:rPr lang="en-US" sz="1100" dirty="0"/>
              <a:t> Maha </a:t>
            </a:r>
            <a:r>
              <a:rPr lang="en-US" sz="1100" dirty="0" err="1"/>
              <a:t>Mendengar</a:t>
            </a:r>
            <a:r>
              <a:rPr lang="en-US" sz="1100" dirty="0"/>
              <a:t> </a:t>
            </a:r>
            <a:r>
              <a:rPr lang="en-US" sz="1100" dirty="0" err="1"/>
              <a:t>lagi</a:t>
            </a:r>
            <a:r>
              <a:rPr lang="en-US" sz="1100" dirty="0"/>
              <a:t> Maha </a:t>
            </a:r>
            <a:r>
              <a:rPr lang="en-US" sz="1100" dirty="0" err="1"/>
              <a:t>Melihat</a:t>
            </a:r>
            <a:r>
              <a:rPr lang="en-US" sz="1100" dirty="0"/>
              <a:t>”.</a:t>
            </a:r>
          </a:p>
          <a:p>
            <a:pPr marL="139700" indent="0" algn="l"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965292D2-E3A5-2F47-DA98-12C6E84181BC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899AEFBE-2F8E-86FF-F55C-AFD4A9102BD7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72316835-475E-3A0D-9556-6263D1BD4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E15D1110-1110-CEDB-1A75-43706DDFFF6C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9" y="383255"/>
            <a:ext cx="3587504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Latar Belakang [2]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A1569347-7B80-C055-AC05-70B9765EE815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649E9E35-715C-06C0-789C-A13A53936FB1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87;p38">
            <a:extLst>
              <a:ext uri="{FF2B5EF4-FFF2-40B4-BE49-F238E27FC236}">
                <a16:creationId xmlns:a16="http://schemas.microsoft.com/office/drawing/2014/main" id="{8F1B8897-D418-E53E-FA66-7849267311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4824" y="934649"/>
            <a:ext cx="8531108" cy="36830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Salah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bentuk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digital yang paling </a:t>
            </a:r>
            <a:r>
              <a:rPr lang="en-US" sz="1200" dirty="0" err="1"/>
              <a:t>umum</a:t>
            </a:r>
            <a:r>
              <a:rPr lang="en-US" sz="1200" dirty="0"/>
              <a:t>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digital.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Salah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melindungi</a:t>
            </a:r>
            <a:r>
              <a:rPr lang="en-US" sz="1200" dirty="0"/>
              <a:t> </a:t>
            </a:r>
            <a:r>
              <a:rPr lang="en-US" sz="1200" dirty="0" err="1"/>
              <a:t>keamanan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digital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menerapkan</a:t>
            </a:r>
            <a:r>
              <a:rPr lang="en-US" sz="1200" dirty="0"/>
              <a:t> </a:t>
            </a:r>
            <a:r>
              <a:rPr lang="en-US" sz="1200" dirty="0" err="1"/>
              <a:t>kriptografi</a:t>
            </a:r>
            <a:r>
              <a:rPr lang="en-US" sz="1200" dirty="0"/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Terdapat</a:t>
            </a:r>
            <a:r>
              <a:rPr lang="en-US" sz="1200" dirty="0"/>
              <a:t> </a:t>
            </a:r>
            <a:r>
              <a:rPr lang="en-US" sz="1200" dirty="0" err="1"/>
              <a:t>tiga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</a:t>
            </a:r>
            <a:r>
              <a:rPr lang="en-US" sz="1200" dirty="0" err="1"/>
              <a:t>kriptografi</a:t>
            </a:r>
            <a:r>
              <a:rPr lang="en-US" sz="1200" dirty="0"/>
              <a:t>, </a:t>
            </a:r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</a:t>
            </a:r>
            <a:r>
              <a:rPr lang="en-US" sz="1200" dirty="0" err="1"/>
              <a:t>simetri</a:t>
            </a:r>
            <a:r>
              <a:rPr lang="en-US" sz="1200" dirty="0"/>
              <a:t>, </a:t>
            </a:r>
            <a:r>
              <a:rPr lang="en-US" sz="1200" dirty="0" err="1"/>
              <a:t>asimetri</a:t>
            </a:r>
            <a:r>
              <a:rPr lang="en-US" sz="1200" dirty="0"/>
              <a:t>, dan hybrid.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Dalam </a:t>
            </a:r>
            <a:r>
              <a:rPr lang="en-US" sz="1200" dirty="0" err="1"/>
              <a:t>penelitiannya</a:t>
            </a:r>
            <a:r>
              <a:rPr lang="en-US" sz="1200" dirty="0"/>
              <a:t>, </a:t>
            </a:r>
            <a:r>
              <a:rPr lang="en-US" sz="1200" dirty="0" err="1"/>
              <a:t>Fadlilah</a:t>
            </a:r>
            <a:r>
              <a:rPr lang="en-US" sz="1200" dirty="0"/>
              <a:t> </a:t>
            </a:r>
            <a:r>
              <a:rPr lang="en-US" sz="1200" dirty="0" err="1"/>
              <a:t>mengusulkan</a:t>
            </a:r>
            <a:r>
              <a:rPr lang="en-US" sz="1200" dirty="0"/>
              <a:t> </a:t>
            </a:r>
            <a:r>
              <a:rPr lang="en-US" sz="1200" dirty="0" err="1"/>
              <a:t>kombinasi</a:t>
            </a:r>
            <a:r>
              <a:rPr lang="en-US" sz="1200" dirty="0"/>
              <a:t> </a:t>
            </a:r>
            <a:r>
              <a:rPr lang="en-US" sz="1200" i="1" dirty="0"/>
              <a:t>Hill Cipher </a:t>
            </a:r>
            <a:r>
              <a:rPr lang="en-US" sz="1200" dirty="0"/>
              <a:t>dan </a:t>
            </a:r>
            <a:r>
              <a:rPr lang="en-US" sz="1200" i="1" dirty="0"/>
              <a:t>ElGamal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mengamankan</a:t>
            </a:r>
            <a:r>
              <a:rPr lang="en-US" sz="1200" dirty="0"/>
              <a:t> </a:t>
            </a:r>
            <a:r>
              <a:rPr lang="en-US" sz="1200" dirty="0" err="1"/>
              <a:t>pesan</a:t>
            </a:r>
            <a:r>
              <a:rPr lang="en-US" sz="1200" dirty="0"/>
              <a:t> </a:t>
            </a:r>
            <a:r>
              <a:rPr lang="en-US" sz="1200" dirty="0" err="1"/>
              <a:t>teks</a:t>
            </a:r>
            <a:r>
              <a:rPr lang="en-US" sz="1200" dirty="0"/>
              <a:t>, </a:t>
            </a:r>
            <a:r>
              <a:rPr lang="en-US" sz="1200" dirty="0" err="1"/>
              <a:t>didapatkan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dirty="0" err="1"/>
              <a:t>penggabungan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</a:t>
            </a:r>
            <a:r>
              <a:rPr lang="en-US" sz="1200" i="1" dirty="0"/>
              <a:t>Hill Cipher </a:t>
            </a:r>
            <a:r>
              <a:rPr lang="en-US" sz="1200" dirty="0"/>
              <a:t>dan </a:t>
            </a:r>
            <a:r>
              <a:rPr lang="en-US" sz="1200" i="1" dirty="0"/>
              <a:t>ElGamal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mengamankan</a:t>
            </a:r>
            <a:r>
              <a:rPr lang="en-US" sz="1200" dirty="0"/>
              <a:t> </a:t>
            </a:r>
            <a:r>
              <a:rPr lang="en-US" sz="1200" dirty="0" err="1"/>
              <a:t>pesan</a:t>
            </a:r>
            <a:r>
              <a:rPr lang="en-US" sz="1200" dirty="0"/>
              <a:t> </a:t>
            </a:r>
            <a:r>
              <a:rPr lang="en-US" sz="1200" dirty="0" err="1"/>
              <a:t>teks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dilakukan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[1].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Penelitian</a:t>
            </a:r>
            <a:r>
              <a:rPr lang="en-US" sz="1200" dirty="0"/>
              <a:t> (Hakim, 2021) </a:t>
            </a:r>
            <a:r>
              <a:rPr lang="en-US" sz="1200" dirty="0" err="1"/>
              <a:t>menyatakan</a:t>
            </a:r>
            <a:r>
              <a:rPr lang="en-US" sz="1200" dirty="0"/>
              <a:t> </a:t>
            </a:r>
            <a:r>
              <a:rPr lang="en-US" sz="1200" dirty="0" err="1"/>
              <a:t>gabungan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</a:t>
            </a:r>
            <a:r>
              <a:rPr lang="en-US" sz="1200" i="1" dirty="0"/>
              <a:t>Hill Cipher  </a:t>
            </a:r>
            <a:r>
              <a:rPr lang="en-US" sz="1200" dirty="0"/>
              <a:t>dan </a:t>
            </a:r>
            <a:r>
              <a:rPr lang="en-US" sz="1200" i="1" dirty="0"/>
              <a:t>Arnold Cat Map </a:t>
            </a:r>
            <a:r>
              <a:rPr lang="en-US" sz="1200" dirty="0" err="1"/>
              <a:t>berhasil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digital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acak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rata-rata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i="1" dirty="0"/>
              <a:t>Structural Similarity Index Metrics </a:t>
            </a:r>
            <a:r>
              <a:rPr lang="en-US" sz="1200" dirty="0"/>
              <a:t>(SSIM) 0,027.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39700" indent="0" algn="l"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B6D7504B-F0E6-D4A0-ADA1-F093E087A775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046ABCF8-3E2D-FDB5-0213-3070CAD8374E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</p:spTree>
    <p:extLst>
      <p:ext uri="{BB962C8B-B14F-4D97-AF65-F5344CB8AC3E}">
        <p14:creationId xmlns:p14="http://schemas.microsoft.com/office/powerpoint/2010/main" val="10923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FBEDC164-C21D-3B84-73C7-23C4399B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EDA1FE40-3984-2657-850F-86CFD61EF886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9" y="383255"/>
            <a:ext cx="3587504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Latar Belakang [3]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0E8FC2C9-0DE7-DA97-5EC2-178D80CB7F65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AF4BA4BF-3BB3-03E9-1F31-E599FD45B31E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87;p38">
            <a:extLst>
              <a:ext uri="{FF2B5EF4-FFF2-40B4-BE49-F238E27FC236}">
                <a16:creationId xmlns:a16="http://schemas.microsoft.com/office/drawing/2014/main" id="{44A0020C-3E9C-737A-7D58-8D14F4B050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4824" y="934649"/>
            <a:ext cx="8361496" cy="36830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difokuskan</a:t>
            </a:r>
            <a:r>
              <a:rPr lang="en-US" sz="1200" dirty="0"/>
              <a:t> pada </a:t>
            </a:r>
            <a:r>
              <a:rPr lang="en-US" sz="1200" dirty="0" err="1"/>
              <a:t>implementasi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</a:t>
            </a:r>
            <a:r>
              <a:rPr lang="en-US" sz="1200" dirty="0" err="1"/>
              <a:t>kriptografi</a:t>
            </a:r>
            <a:r>
              <a:rPr lang="en-US" sz="1200" dirty="0"/>
              <a:t> Advance Hill Cipher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 </a:t>
            </a:r>
            <a:r>
              <a:rPr lang="en-US" sz="1200" dirty="0" err="1"/>
              <a:t>terenkripsi</a:t>
            </a:r>
            <a:r>
              <a:rPr lang="en-US" sz="1200" dirty="0"/>
              <a:t> ElGamal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enkripsi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digital </a:t>
            </a:r>
            <a:r>
              <a:rPr lang="en-US" sz="1200" dirty="0" err="1"/>
              <a:t>berwarna</a:t>
            </a:r>
            <a:r>
              <a:rPr lang="en-US" sz="1200" dirty="0"/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Pemilihan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digital </a:t>
            </a:r>
            <a:r>
              <a:rPr lang="en-US" sz="1200" dirty="0" err="1"/>
              <a:t>berwarna</a:t>
            </a:r>
            <a:r>
              <a:rPr lang="en-US" sz="1200" dirty="0"/>
              <a:t> </a:t>
            </a:r>
            <a:r>
              <a:rPr lang="en-US" sz="1200" dirty="0" err="1"/>
              <a:t>didasarkan</a:t>
            </a:r>
            <a:r>
              <a:rPr lang="en-US" sz="1200" dirty="0"/>
              <a:t> pada </a:t>
            </a:r>
            <a:r>
              <a:rPr lang="en-US" sz="1200" dirty="0" err="1"/>
              <a:t>tingkat</a:t>
            </a:r>
            <a:r>
              <a:rPr lang="en-US" sz="1200" dirty="0"/>
              <a:t> </a:t>
            </a:r>
            <a:r>
              <a:rPr lang="en-US" sz="1200" dirty="0" err="1"/>
              <a:t>kompleksitas</a:t>
            </a:r>
            <a:r>
              <a:rPr lang="en-US" sz="1200" dirty="0"/>
              <a:t> data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teks</a:t>
            </a:r>
            <a:r>
              <a:rPr lang="en-US" sz="1200" dirty="0"/>
              <a:t>, </a:t>
            </a:r>
            <a:r>
              <a:rPr lang="en-US" sz="1200" dirty="0" err="1"/>
              <a:t>sehingga</a:t>
            </a:r>
            <a:r>
              <a:rPr lang="en-US" sz="1200" dirty="0"/>
              <a:t> </a:t>
            </a:r>
            <a:r>
              <a:rPr lang="en-US" sz="1200" dirty="0" err="1"/>
              <a:t>diperlukan</a:t>
            </a:r>
            <a:r>
              <a:rPr lang="en-US" sz="1200" dirty="0"/>
              <a:t> </a:t>
            </a:r>
            <a:r>
              <a:rPr lang="en-US" sz="1200" dirty="0" err="1"/>
              <a:t>metode</a:t>
            </a:r>
            <a:r>
              <a:rPr lang="en-US" sz="1200" dirty="0"/>
              <a:t> </a:t>
            </a:r>
            <a:r>
              <a:rPr lang="en-US" sz="1200" dirty="0" err="1"/>
              <a:t>enkripsi</a:t>
            </a:r>
            <a:r>
              <a:rPr lang="en-US" sz="1200" dirty="0"/>
              <a:t> yang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efisien</a:t>
            </a:r>
            <a:r>
              <a:rPr lang="en-US" sz="1200" dirty="0"/>
              <a:t>, </a:t>
            </a:r>
            <a:r>
              <a:rPr lang="en-US" sz="1200" dirty="0" err="1"/>
              <a:t>tetapi</a:t>
            </a:r>
            <a:r>
              <a:rPr lang="en-US" sz="1200" dirty="0"/>
              <a:t> juga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tingkat</a:t>
            </a:r>
            <a:r>
              <a:rPr lang="en-US" sz="1200" dirty="0"/>
              <a:t> </a:t>
            </a:r>
            <a:r>
              <a:rPr lang="en-US" sz="1200" dirty="0" err="1"/>
              <a:t>keamanan</a:t>
            </a:r>
            <a:r>
              <a:rPr lang="en-US" sz="1200" dirty="0"/>
              <a:t> yang </a:t>
            </a:r>
            <a:r>
              <a:rPr lang="en-US" sz="1200" dirty="0" err="1"/>
              <a:t>memadai</a:t>
            </a:r>
            <a:r>
              <a:rPr lang="en-US" sz="1200" dirty="0"/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Advance Hill Cipher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</a:t>
            </a:r>
            <a:r>
              <a:rPr lang="en-US" sz="1200" dirty="0" err="1"/>
              <a:t>simetris</a:t>
            </a:r>
            <a:r>
              <a:rPr lang="en-US" sz="1200" dirty="0"/>
              <a:t> </a:t>
            </a:r>
            <a:r>
              <a:rPr lang="en-US" sz="1200" dirty="0" err="1"/>
              <a:t>dipilih</a:t>
            </a:r>
            <a:r>
              <a:rPr lang="en-US" sz="1200" dirty="0"/>
              <a:t>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keunggulannya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melakukan</a:t>
            </a:r>
            <a:r>
              <a:rPr lang="en-US" sz="1200" dirty="0"/>
              <a:t> proses </a:t>
            </a:r>
            <a:r>
              <a:rPr lang="en-US" sz="1200" dirty="0" err="1"/>
              <a:t>enkripsi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cepat</a:t>
            </a:r>
            <a:r>
              <a:rPr lang="en-US" sz="1200" dirty="0"/>
              <a:t> pada data </a:t>
            </a:r>
            <a:r>
              <a:rPr lang="en-US" sz="1200" dirty="0" err="1"/>
              <a:t>berukuran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, </a:t>
            </a:r>
            <a:r>
              <a:rPr lang="en-US" sz="1200" dirty="0" err="1"/>
              <a:t>meskipun</a:t>
            </a:r>
            <a:r>
              <a:rPr lang="en-US" sz="1200" dirty="0"/>
              <a:t> </a:t>
            </a:r>
            <a:r>
              <a:rPr lang="en-US" sz="1200" dirty="0" err="1"/>
              <a:t>masih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kelemahan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hal</a:t>
            </a:r>
            <a:r>
              <a:rPr lang="en-US" sz="1200" dirty="0"/>
              <a:t> </a:t>
            </a:r>
            <a:r>
              <a:rPr lang="en-US" sz="1200" dirty="0" err="1"/>
              <a:t>distribusi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mengatasi</a:t>
            </a:r>
            <a:r>
              <a:rPr lang="en-US" sz="1200" dirty="0"/>
              <a:t> </a:t>
            </a:r>
            <a:r>
              <a:rPr lang="en-US" sz="1200" dirty="0" err="1"/>
              <a:t>permasalahan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,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</a:t>
            </a:r>
            <a:r>
              <a:rPr lang="en-US" sz="1200" dirty="0" err="1"/>
              <a:t>asimetris</a:t>
            </a:r>
            <a:r>
              <a:rPr lang="en-US" sz="1200" dirty="0"/>
              <a:t> ElGamal yang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kekuatan</a:t>
            </a:r>
            <a:r>
              <a:rPr lang="en-US" sz="1200" dirty="0"/>
              <a:t> </a:t>
            </a:r>
            <a:r>
              <a:rPr lang="en-US" sz="1200" dirty="0" err="1"/>
              <a:t>keamanan</a:t>
            </a:r>
            <a:r>
              <a:rPr lang="en-US" sz="1200" dirty="0"/>
              <a:t> </a:t>
            </a:r>
            <a:r>
              <a:rPr lang="en-US" sz="1200" dirty="0" err="1"/>
              <a:t>berbasis</a:t>
            </a:r>
            <a:r>
              <a:rPr lang="en-US" sz="1200" dirty="0"/>
              <a:t> </a:t>
            </a:r>
            <a:r>
              <a:rPr lang="en-US" sz="1200" dirty="0" err="1"/>
              <a:t>permasalahan</a:t>
            </a:r>
            <a:r>
              <a:rPr lang="en-US" sz="1200" dirty="0"/>
              <a:t> </a:t>
            </a:r>
            <a:r>
              <a:rPr lang="en-US" sz="1200" dirty="0" err="1"/>
              <a:t>logaritma</a:t>
            </a:r>
            <a:r>
              <a:rPr lang="en-US" sz="1200" dirty="0"/>
              <a:t> </a:t>
            </a:r>
            <a:r>
              <a:rPr lang="en-US" sz="1200" dirty="0" err="1"/>
              <a:t>diskret</a:t>
            </a:r>
            <a:r>
              <a:rPr lang="en-US" sz="1200" dirty="0"/>
              <a:t>, </a:t>
            </a:r>
            <a:r>
              <a:rPr lang="en-US" sz="1200" dirty="0" err="1"/>
              <a:t>sehingga</a:t>
            </a:r>
            <a:r>
              <a:rPr lang="en-US" sz="1200" dirty="0"/>
              <a:t> </a:t>
            </a:r>
            <a:r>
              <a:rPr lang="en-US" sz="1200" dirty="0" err="1"/>
              <a:t>mampu</a:t>
            </a:r>
            <a:r>
              <a:rPr lang="en-US" sz="1200" dirty="0"/>
              <a:t> </a:t>
            </a:r>
            <a:r>
              <a:rPr lang="en-US" sz="1200" dirty="0" err="1"/>
              <a:t>meningkatkan</a:t>
            </a:r>
            <a:r>
              <a:rPr lang="en-US" sz="1200" dirty="0"/>
              <a:t> </a:t>
            </a:r>
            <a:r>
              <a:rPr lang="en-US" sz="1200" dirty="0" err="1"/>
              <a:t>perlindungan</a:t>
            </a:r>
            <a:r>
              <a:rPr lang="en-US" sz="1200" dirty="0"/>
              <a:t> </a:t>
            </a:r>
            <a:r>
              <a:rPr lang="en-US" sz="1200" dirty="0" err="1"/>
              <a:t>distribusi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endParaRPr lang="en-US" sz="1200" dirty="0"/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39700" indent="0" algn="l"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C79E319D-BA9E-2DB8-3274-705EF175BD02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BBB9E244-D2E5-80C5-0E12-043401D4BB57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</p:spTree>
    <p:extLst>
      <p:ext uri="{BB962C8B-B14F-4D97-AF65-F5344CB8AC3E}">
        <p14:creationId xmlns:p14="http://schemas.microsoft.com/office/powerpoint/2010/main" val="3117081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75BB6B53-01B8-187A-992C-B51185127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759AC518-6FB3-BC3F-5AE9-A61EE8999573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9" y="383255"/>
            <a:ext cx="2394651" cy="3151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800" b="1" dirty="0"/>
              <a:t>Rumusan Masalah</a:t>
            </a:r>
            <a:endParaRPr sz="1800"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96131889-44F2-EEE4-84A3-387309B8EBC4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B9E77A87-218F-AE82-F204-2271681A821D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87;p38">
            <a:extLst>
              <a:ext uri="{FF2B5EF4-FFF2-40B4-BE49-F238E27FC236}">
                <a16:creationId xmlns:a16="http://schemas.microsoft.com/office/drawing/2014/main" id="{4F195692-92D8-9D43-F352-66A798830F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3864" y="645089"/>
            <a:ext cx="8361496" cy="1435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/>
              <a:t>Bagaimana</a:t>
            </a:r>
            <a:r>
              <a:rPr lang="en-US" sz="1200" dirty="0"/>
              <a:t> </a:t>
            </a:r>
            <a:r>
              <a:rPr lang="en-US" sz="1200" dirty="0" err="1"/>
              <a:t>mengimplementasikan</a:t>
            </a:r>
            <a:r>
              <a:rPr lang="en-US" sz="1200" dirty="0"/>
              <a:t> </a:t>
            </a:r>
            <a:r>
              <a:rPr lang="en-US" sz="1200" dirty="0" err="1"/>
              <a:t>metode</a:t>
            </a:r>
            <a:r>
              <a:rPr lang="en-US" sz="1200" dirty="0"/>
              <a:t> </a:t>
            </a:r>
            <a:r>
              <a:rPr lang="en-US" sz="1200" dirty="0" err="1"/>
              <a:t>kriptografi</a:t>
            </a:r>
            <a:r>
              <a:rPr lang="en-US" sz="1200" dirty="0"/>
              <a:t> Advance Hill Cipher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 </a:t>
            </a:r>
            <a:r>
              <a:rPr lang="en-US" sz="1200" dirty="0" err="1"/>
              <a:t>terenkripsi</a:t>
            </a:r>
            <a:r>
              <a:rPr lang="en-US" sz="1200" dirty="0"/>
              <a:t> ElGamal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enkripsi</a:t>
            </a:r>
            <a:r>
              <a:rPr lang="en-US" sz="1200" dirty="0"/>
              <a:t> dan </a:t>
            </a:r>
            <a:r>
              <a:rPr lang="en-US" sz="1200" dirty="0" err="1"/>
              <a:t>dekripsi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digital </a:t>
            </a:r>
            <a:r>
              <a:rPr lang="en-US" sz="1200" dirty="0" err="1"/>
              <a:t>berwarna</a:t>
            </a:r>
            <a:r>
              <a:rPr lang="en-US" sz="1200" dirty="0"/>
              <a:t>?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/>
              <a:t>Bagaimana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</a:t>
            </a:r>
            <a:r>
              <a:rPr lang="en-US" sz="1200" dirty="0" err="1"/>
              <a:t>enkripsi</a:t>
            </a:r>
            <a:r>
              <a:rPr lang="en-US" sz="1200" dirty="0"/>
              <a:t> dan </a:t>
            </a:r>
            <a:r>
              <a:rPr lang="en-US" sz="1200" dirty="0" err="1"/>
              <a:t>dekripsi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digital </a:t>
            </a:r>
            <a:r>
              <a:rPr lang="en-US" sz="1200" dirty="0" err="1"/>
              <a:t>berwarna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metode</a:t>
            </a:r>
            <a:r>
              <a:rPr lang="en-US" sz="1200" dirty="0"/>
              <a:t> </a:t>
            </a:r>
            <a:r>
              <a:rPr lang="en-US" sz="1200" dirty="0" err="1"/>
              <a:t>kriptografi</a:t>
            </a:r>
            <a:r>
              <a:rPr lang="en-US" sz="1200" dirty="0"/>
              <a:t> Advance Hill Cipher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 </a:t>
            </a:r>
            <a:r>
              <a:rPr lang="en-US" sz="1200" dirty="0" err="1"/>
              <a:t>terenkripsi</a:t>
            </a:r>
            <a:r>
              <a:rPr lang="en-US" sz="1200" dirty="0"/>
              <a:t> ElGamal?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/>
              <a:t>Bagaimana</a:t>
            </a:r>
            <a:r>
              <a:rPr lang="en-US" sz="1200" dirty="0"/>
              <a:t> </a:t>
            </a:r>
            <a:r>
              <a:rPr lang="en-US" sz="1200" dirty="0" err="1"/>
              <a:t>performa</a:t>
            </a:r>
            <a:r>
              <a:rPr lang="en-US" sz="1200" dirty="0"/>
              <a:t> </a:t>
            </a:r>
            <a:r>
              <a:rPr lang="en-US" sz="1200" dirty="0" err="1"/>
              <a:t>kecepatan</a:t>
            </a:r>
            <a:r>
              <a:rPr lang="en-US" sz="1200" dirty="0"/>
              <a:t> </a:t>
            </a:r>
            <a:r>
              <a:rPr lang="en-US" sz="1200" dirty="0" err="1"/>
              <a:t>enkripsi</a:t>
            </a:r>
            <a:r>
              <a:rPr lang="en-US" sz="1200" dirty="0"/>
              <a:t> dan </a:t>
            </a:r>
            <a:r>
              <a:rPr lang="en-US" sz="1200" dirty="0" err="1"/>
              <a:t>dekripsi</a:t>
            </a:r>
            <a:r>
              <a:rPr lang="en-US" sz="1200" dirty="0"/>
              <a:t> Advance Hill Cipher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 </a:t>
            </a:r>
            <a:r>
              <a:rPr lang="en-US" sz="1200" dirty="0" err="1"/>
              <a:t>terenkripsi</a:t>
            </a:r>
            <a:r>
              <a:rPr lang="en-US" sz="1200" dirty="0"/>
              <a:t> ElGamal?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39700" indent="0" algn="l"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88D1AA2F-A6AE-0076-F026-4E89CA5BADBB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3F427462-72BC-9330-1316-CD51261DA716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3" name="Google Shape;250;p44">
            <a:extLst>
              <a:ext uri="{FF2B5EF4-FFF2-40B4-BE49-F238E27FC236}">
                <a16:creationId xmlns:a16="http://schemas.microsoft.com/office/drawing/2014/main" id="{6AF820B3-FEDD-FC1E-8946-B5B0CEB9B896}"/>
              </a:ext>
            </a:extLst>
          </p:cNvPr>
          <p:cNvSpPr txBox="1">
            <a:spLocks/>
          </p:cNvSpPr>
          <p:nvPr/>
        </p:nvSpPr>
        <p:spPr>
          <a:xfrm>
            <a:off x="318069" y="2425854"/>
            <a:ext cx="2394651" cy="31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800" b="1" dirty="0"/>
              <a:t>Tujuan </a:t>
            </a:r>
            <a:r>
              <a:rPr lang="en-US" sz="1800" b="1" dirty="0" err="1"/>
              <a:t>Penelitian</a:t>
            </a:r>
            <a:endParaRPr lang="en-US" sz="1800" b="1" dirty="0"/>
          </a:p>
        </p:txBody>
      </p:sp>
      <p:sp>
        <p:nvSpPr>
          <p:cNvPr id="4" name="Google Shape;187;p38">
            <a:extLst>
              <a:ext uri="{FF2B5EF4-FFF2-40B4-BE49-F238E27FC236}">
                <a16:creationId xmlns:a16="http://schemas.microsoft.com/office/drawing/2014/main" id="{C2657F51-44DA-C49B-2A4B-7117ABBD144E}"/>
              </a:ext>
            </a:extLst>
          </p:cNvPr>
          <p:cNvSpPr txBox="1">
            <a:spLocks/>
          </p:cNvSpPr>
          <p:nvPr/>
        </p:nvSpPr>
        <p:spPr>
          <a:xfrm>
            <a:off x="233864" y="2687688"/>
            <a:ext cx="8361496" cy="190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mengetahui</a:t>
            </a:r>
            <a:r>
              <a:rPr lang="en-US" sz="1200" dirty="0"/>
              <a:t> proses </a:t>
            </a:r>
            <a:r>
              <a:rPr lang="en-US" sz="1200" dirty="0" err="1"/>
              <a:t>enkripsi</a:t>
            </a:r>
            <a:r>
              <a:rPr lang="en-US" sz="1200" dirty="0"/>
              <a:t> dan </a:t>
            </a:r>
            <a:r>
              <a:rPr lang="en-US" sz="1200" dirty="0" err="1"/>
              <a:t>dekripsi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digital </a:t>
            </a:r>
            <a:r>
              <a:rPr lang="en-US" sz="1200" dirty="0" err="1"/>
              <a:t>berwarna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Advance Hill Cipher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 </a:t>
            </a:r>
            <a:r>
              <a:rPr lang="en-US" sz="1200" dirty="0" err="1"/>
              <a:t>terenkripsi</a:t>
            </a:r>
            <a:r>
              <a:rPr lang="en-US" sz="1200" dirty="0"/>
              <a:t> ElGamal.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mengetahui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</a:t>
            </a:r>
            <a:r>
              <a:rPr lang="en-US" sz="1200" dirty="0" err="1"/>
              <a:t>enkripsi</a:t>
            </a:r>
            <a:r>
              <a:rPr lang="en-US" sz="1200" dirty="0"/>
              <a:t> dan </a:t>
            </a:r>
            <a:r>
              <a:rPr lang="en-US" sz="1200" dirty="0" err="1"/>
              <a:t>dekripsi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digital </a:t>
            </a:r>
            <a:r>
              <a:rPr lang="en-US" sz="1200" dirty="0" err="1"/>
              <a:t>berwarna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Advance Hill Cipher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 </a:t>
            </a:r>
            <a:r>
              <a:rPr lang="en-US" sz="1200" dirty="0" err="1"/>
              <a:t>terenkripsi</a:t>
            </a:r>
            <a:r>
              <a:rPr lang="en-US" sz="1200" dirty="0"/>
              <a:t> ElGamal.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mengetahui</a:t>
            </a:r>
            <a:r>
              <a:rPr lang="en-US" sz="1200" dirty="0"/>
              <a:t> </a:t>
            </a:r>
            <a:r>
              <a:rPr lang="en-US" sz="1200" dirty="0" err="1"/>
              <a:t>performa</a:t>
            </a:r>
            <a:r>
              <a:rPr lang="en-US" sz="1200" dirty="0"/>
              <a:t> </a:t>
            </a:r>
            <a:r>
              <a:rPr lang="en-US" sz="1200" dirty="0" err="1"/>
              <a:t>kecepatan</a:t>
            </a:r>
            <a:r>
              <a:rPr lang="en-US" sz="1200" dirty="0"/>
              <a:t> </a:t>
            </a:r>
            <a:r>
              <a:rPr lang="en-US" sz="1200" dirty="0" err="1"/>
              <a:t>enkripsi</a:t>
            </a:r>
            <a:r>
              <a:rPr lang="en-US" sz="1200" dirty="0"/>
              <a:t> dan </a:t>
            </a:r>
            <a:r>
              <a:rPr lang="en-US" sz="1200" dirty="0" err="1"/>
              <a:t>dekripsi</a:t>
            </a:r>
            <a:r>
              <a:rPr lang="en-US" sz="1200" dirty="0"/>
              <a:t> Advance Hill Cipher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 </a:t>
            </a:r>
            <a:r>
              <a:rPr lang="en-US" sz="1200" dirty="0" err="1"/>
              <a:t>terenkripsi</a:t>
            </a:r>
            <a:r>
              <a:rPr lang="en-US" sz="1200" dirty="0"/>
              <a:t> ElGamal.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endParaRPr lang="en-US" sz="1200" dirty="0"/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39700" indent="0" algn="l">
              <a:lnSpc>
                <a:spcPct val="15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71643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7D95E9D8-8EE6-702C-92C4-D79D1CB1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9562C2FC-59A4-54AE-F424-9380C017385E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9" y="501282"/>
            <a:ext cx="2525870" cy="3151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800" b="1" dirty="0"/>
              <a:t>Manfaat Penelitian</a:t>
            </a:r>
            <a:endParaRPr sz="1800"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2878F9B6-CFA0-F091-C802-968FC1ABC8A5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647CC14B-7737-945C-D24A-85D385CF0057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87;p38">
            <a:extLst>
              <a:ext uri="{FF2B5EF4-FFF2-40B4-BE49-F238E27FC236}">
                <a16:creationId xmlns:a16="http://schemas.microsoft.com/office/drawing/2014/main" id="{2DAEA3A9-CC84-E57D-4C51-6B61F86F3E2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3864" y="844556"/>
            <a:ext cx="8361496" cy="1435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/>
              <a:t>Bagi </a:t>
            </a:r>
            <a:r>
              <a:rPr lang="en-US" sz="1200" dirty="0" err="1"/>
              <a:t>Penulis</a:t>
            </a:r>
            <a:r>
              <a:rPr lang="en-US" sz="1200" dirty="0"/>
              <a:t>,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sarana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memperdalam</a:t>
            </a:r>
            <a:r>
              <a:rPr lang="en-US" sz="1200" dirty="0"/>
              <a:t> </a:t>
            </a:r>
            <a:r>
              <a:rPr lang="en-US" sz="1200" dirty="0" err="1"/>
              <a:t>pemahaman</a:t>
            </a:r>
            <a:r>
              <a:rPr lang="en-US" sz="1200" dirty="0"/>
              <a:t> </a:t>
            </a:r>
            <a:r>
              <a:rPr lang="en-US" sz="1200" dirty="0" err="1"/>
              <a:t>tentang</a:t>
            </a:r>
            <a:r>
              <a:rPr lang="en-US" sz="1200" dirty="0"/>
              <a:t> </a:t>
            </a:r>
            <a:r>
              <a:rPr lang="en-US" sz="1200" dirty="0" err="1"/>
              <a:t>kriptografi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Advance Hill Cipher dan ElGamal.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/>
              <a:t>Bagi </a:t>
            </a:r>
            <a:r>
              <a:rPr lang="en-US" sz="1200" dirty="0" err="1"/>
              <a:t>Pembaca</a:t>
            </a:r>
            <a:r>
              <a:rPr lang="en-US" sz="1200" dirty="0"/>
              <a:t>,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memberikan</a:t>
            </a:r>
            <a:r>
              <a:rPr lang="en-US" sz="1200" dirty="0"/>
              <a:t> </a:t>
            </a:r>
            <a:r>
              <a:rPr lang="en-US" sz="1200" dirty="0" err="1"/>
              <a:t>wawasan</a:t>
            </a:r>
            <a:r>
              <a:rPr lang="en-US" sz="1200" dirty="0"/>
              <a:t> </a:t>
            </a:r>
            <a:r>
              <a:rPr lang="en-US" sz="1200" dirty="0" err="1"/>
              <a:t>tentang</a:t>
            </a:r>
            <a:r>
              <a:rPr lang="en-US" sz="1200" dirty="0"/>
              <a:t> </a:t>
            </a:r>
            <a:r>
              <a:rPr lang="en-US" sz="1200" dirty="0" err="1"/>
              <a:t>bagaimana</a:t>
            </a:r>
            <a:r>
              <a:rPr lang="en-US" sz="1200" dirty="0"/>
              <a:t> </a:t>
            </a:r>
            <a:r>
              <a:rPr lang="en-US" sz="1200" dirty="0" err="1"/>
              <a:t>implementasi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Advance Hill </a:t>
            </a:r>
            <a:r>
              <a:rPr lang="en-US" sz="1200" dirty="0" err="1"/>
              <a:t>Hipher</a:t>
            </a:r>
            <a:r>
              <a:rPr lang="en-US" sz="1200" dirty="0"/>
              <a:t> dan ElGamal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mengenkripsi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digital </a:t>
            </a:r>
            <a:r>
              <a:rPr lang="en-US" sz="1200" dirty="0" err="1"/>
              <a:t>berwarna</a:t>
            </a:r>
            <a:r>
              <a:rPr lang="en-US" sz="1200" dirty="0"/>
              <a:t>. 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endParaRPr lang="en-US" sz="1200" dirty="0"/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39700" indent="0" algn="l"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59F2A79F-4818-FE87-D1EF-A45400DF53DF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E2FDAF1E-56C0-A977-2E07-675CE1E1409A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3" name="Google Shape;250;p44">
            <a:extLst>
              <a:ext uri="{FF2B5EF4-FFF2-40B4-BE49-F238E27FC236}">
                <a16:creationId xmlns:a16="http://schemas.microsoft.com/office/drawing/2014/main" id="{E7749631-B1A2-E103-F433-57415B35830C}"/>
              </a:ext>
            </a:extLst>
          </p:cNvPr>
          <p:cNvSpPr txBox="1">
            <a:spLocks/>
          </p:cNvSpPr>
          <p:nvPr/>
        </p:nvSpPr>
        <p:spPr>
          <a:xfrm>
            <a:off x="318069" y="2425854"/>
            <a:ext cx="2394651" cy="31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800" b="1" dirty="0"/>
              <a:t>Batasan </a:t>
            </a:r>
            <a:r>
              <a:rPr lang="en-US" sz="1800" b="1" dirty="0" err="1"/>
              <a:t>Masalah</a:t>
            </a:r>
            <a:endParaRPr lang="en-US" sz="1800" b="1" dirty="0"/>
          </a:p>
        </p:txBody>
      </p:sp>
      <p:sp>
        <p:nvSpPr>
          <p:cNvPr id="4" name="Google Shape;187;p38">
            <a:extLst>
              <a:ext uri="{FF2B5EF4-FFF2-40B4-BE49-F238E27FC236}">
                <a16:creationId xmlns:a16="http://schemas.microsoft.com/office/drawing/2014/main" id="{D527AC76-2A02-DE2F-3A1C-06C031399D9C}"/>
              </a:ext>
            </a:extLst>
          </p:cNvPr>
          <p:cNvSpPr txBox="1">
            <a:spLocks/>
          </p:cNvSpPr>
          <p:nvPr/>
        </p:nvSpPr>
        <p:spPr>
          <a:xfrm>
            <a:off x="233864" y="2687689"/>
            <a:ext cx="8224336" cy="1435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200" dirty="0"/>
              <a:t>Agar </a:t>
            </a:r>
            <a:r>
              <a:rPr lang="en-US" sz="1200" dirty="0" err="1"/>
              <a:t>pembahasan</a:t>
            </a:r>
            <a:r>
              <a:rPr lang="en-US" sz="1200" dirty="0"/>
              <a:t> pada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meluas</a:t>
            </a:r>
            <a:r>
              <a:rPr lang="en-US" sz="1200" dirty="0"/>
              <a:t>, </a:t>
            </a:r>
            <a:r>
              <a:rPr lang="en-US" sz="1200" dirty="0" err="1"/>
              <a:t>maka</a:t>
            </a:r>
            <a:r>
              <a:rPr lang="en-US" sz="1200" dirty="0"/>
              <a:t> </a:t>
            </a:r>
            <a:r>
              <a:rPr lang="en-US" sz="1200" dirty="0" err="1"/>
              <a:t>diperlukan</a:t>
            </a:r>
            <a:r>
              <a:rPr lang="en-US" sz="1200" dirty="0"/>
              <a:t> </a:t>
            </a:r>
            <a:r>
              <a:rPr lang="en-US" sz="1200" dirty="0" err="1"/>
              <a:t>batasan</a:t>
            </a:r>
            <a:r>
              <a:rPr lang="en-US" sz="1200" dirty="0"/>
              <a:t> – </a:t>
            </a:r>
            <a:r>
              <a:rPr lang="en-US" sz="1200" dirty="0" err="1"/>
              <a:t>batasan</a:t>
            </a:r>
            <a:r>
              <a:rPr lang="en-US" sz="1200" dirty="0"/>
              <a:t> </a:t>
            </a:r>
            <a:r>
              <a:rPr lang="en-US" sz="1200" dirty="0" err="1"/>
              <a:t>masalah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berikut</a:t>
            </a:r>
            <a:r>
              <a:rPr lang="en-US" sz="1200" dirty="0"/>
              <a:t>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/>
              <a:t>Matriks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 Advance Hill Cipher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matriks</a:t>
            </a:r>
            <a:r>
              <a:rPr lang="en-US" sz="1200" dirty="0"/>
              <a:t> ordo 3×3.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/>
              <a:t>Data yang </a:t>
            </a:r>
            <a:r>
              <a:rPr lang="en-US" sz="1200" dirty="0" err="1"/>
              <a:t>dienkripsi</a:t>
            </a:r>
            <a:r>
              <a:rPr lang="en-US" sz="1200" dirty="0"/>
              <a:t> dan </a:t>
            </a:r>
            <a:r>
              <a:rPr lang="en-US" sz="1200" dirty="0" err="1"/>
              <a:t>dekripsi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digital </a:t>
            </a:r>
            <a:r>
              <a:rPr lang="en-US" sz="1200" dirty="0" err="1"/>
              <a:t>berwarna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format </a:t>
            </a:r>
            <a:r>
              <a:rPr lang="en-US" sz="1200" i="1" dirty="0"/>
              <a:t>.jpg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> 256×256 </a:t>
            </a:r>
            <a:r>
              <a:rPr lang="en-US" sz="1200" dirty="0" err="1"/>
              <a:t>piksel</a:t>
            </a:r>
            <a:r>
              <a:rPr lang="en-US" sz="1200" dirty="0"/>
              <a:t>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endParaRPr lang="en-US" sz="1200" dirty="0"/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endParaRPr lang="en-US" sz="1200" dirty="0"/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39700" indent="0" algn="l">
              <a:lnSpc>
                <a:spcPct val="15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5790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EB38C94A-145B-5D51-E441-CF7730B6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6E5F7AF8-1F1E-8CC1-2AD8-79D7711A170F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8" y="383255"/>
            <a:ext cx="425393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Tinjauan Pustaka [1]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E28C5827-2D07-6879-8AF8-BD8626EC659A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DF794F2C-604F-3B38-5D71-EAF307970993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83D45787-497A-3CBF-5D2C-5AABAD737D55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1FD4BA53-7589-F360-1026-F9A58FAEE06A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4" name="Google Shape;187;p38">
            <a:extLst>
              <a:ext uri="{FF2B5EF4-FFF2-40B4-BE49-F238E27FC236}">
                <a16:creationId xmlns:a16="http://schemas.microsoft.com/office/drawing/2014/main" id="{F006D795-A886-318B-49BF-85860684EDC7}"/>
              </a:ext>
            </a:extLst>
          </p:cNvPr>
          <p:cNvSpPr txBox="1">
            <a:spLocks/>
          </p:cNvSpPr>
          <p:nvPr/>
        </p:nvSpPr>
        <p:spPr>
          <a:xfrm>
            <a:off x="237599" y="1365618"/>
            <a:ext cx="8793117" cy="73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200" dirty="0" err="1"/>
              <a:t>Kriptografi</a:t>
            </a:r>
            <a:r>
              <a:rPr lang="en-US" sz="1200" dirty="0"/>
              <a:t>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ilmu</a:t>
            </a:r>
            <a:r>
              <a:rPr lang="en-US" sz="1200" dirty="0"/>
              <a:t> yang </a:t>
            </a:r>
            <a:r>
              <a:rPr lang="en-US" sz="1200" dirty="0" err="1"/>
              <a:t>mempelajari</a:t>
            </a:r>
            <a:r>
              <a:rPr lang="en-US" sz="1200" dirty="0"/>
              <a:t> </a:t>
            </a:r>
            <a:r>
              <a:rPr lang="en-US" sz="1200" dirty="0" err="1"/>
              <a:t>teknik</a:t>
            </a:r>
            <a:r>
              <a:rPr lang="en-US" sz="1200" dirty="0"/>
              <a:t>–</a:t>
            </a:r>
            <a:r>
              <a:rPr lang="en-US" sz="1200" dirty="0" err="1"/>
              <a:t>teknik</a:t>
            </a:r>
            <a:r>
              <a:rPr lang="en-US" sz="1200" dirty="0"/>
              <a:t> </a:t>
            </a:r>
            <a:r>
              <a:rPr lang="en-US" sz="1200" dirty="0" err="1"/>
              <a:t>matematika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menjaga</a:t>
            </a:r>
            <a:r>
              <a:rPr lang="en-US" sz="1200" dirty="0"/>
              <a:t> </a:t>
            </a:r>
            <a:r>
              <a:rPr lang="en-US" sz="1200" dirty="0" err="1"/>
              <a:t>kerahasiaan</a:t>
            </a:r>
            <a:r>
              <a:rPr lang="en-US" sz="1200" dirty="0"/>
              <a:t> dan </a:t>
            </a:r>
            <a:r>
              <a:rPr lang="en-US" sz="1200" dirty="0" err="1"/>
              <a:t>keamanan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pihak</a:t>
            </a:r>
            <a:r>
              <a:rPr lang="en-US" sz="1200" dirty="0"/>
              <a:t> yang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berwenang</a:t>
            </a:r>
            <a:r>
              <a:rPr lang="en-US" sz="1200" dirty="0"/>
              <a:t> (Stinson, 2005).</a:t>
            </a:r>
          </a:p>
          <a:p>
            <a:pPr marL="139700" indent="0" algn="l">
              <a:lnSpc>
                <a:spcPct val="150000"/>
              </a:lnSpc>
            </a:pPr>
            <a:endParaRPr lang="en-US" sz="1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4AF96F-D6D3-7080-D172-F431DE2BA9BE}"/>
              </a:ext>
            </a:extLst>
          </p:cNvPr>
          <p:cNvGrpSpPr/>
          <p:nvPr/>
        </p:nvGrpSpPr>
        <p:grpSpPr>
          <a:xfrm>
            <a:off x="362265" y="1112927"/>
            <a:ext cx="2394651" cy="336845"/>
            <a:chOff x="417129" y="1192175"/>
            <a:chExt cx="2394651" cy="336845"/>
          </a:xfrm>
        </p:grpSpPr>
        <p:sp>
          <p:nvSpPr>
            <p:cNvPr id="3" name="Google Shape;250;p44">
              <a:extLst>
                <a:ext uri="{FF2B5EF4-FFF2-40B4-BE49-F238E27FC236}">
                  <a16:creationId xmlns:a16="http://schemas.microsoft.com/office/drawing/2014/main" id="{79126A83-52CA-0E56-6B41-C09A6C607EBB}"/>
                </a:ext>
              </a:extLst>
            </p:cNvPr>
            <p:cNvSpPr txBox="1">
              <a:spLocks/>
            </p:cNvSpPr>
            <p:nvPr/>
          </p:nvSpPr>
          <p:spPr>
            <a:xfrm>
              <a:off x="417129" y="1192175"/>
              <a:ext cx="2394651" cy="315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3235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Epilogue"/>
                <a:buNone/>
                <a:defRPr sz="2800" b="0" i="0" u="none" strike="noStrike" cap="none">
                  <a:solidFill>
                    <a:schemeClr val="lt1"/>
                  </a:solidFill>
                  <a:latin typeface="Epilogue"/>
                  <a:ea typeface="Epilogue"/>
                  <a:cs typeface="Epilogue"/>
                  <a:sym typeface="Epilogu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l">
                <a:spcAft>
                  <a:spcPts val="600"/>
                </a:spcAft>
              </a:pPr>
              <a:r>
                <a:rPr lang="en-US" sz="1800" b="1" dirty="0" err="1"/>
                <a:t>Kriptografi</a:t>
              </a:r>
              <a:endParaRPr lang="en-US" sz="1800" b="1" dirty="0"/>
            </a:p>
          </p:txBody>
        </p:sp>
        <p:sp>
          <p:nvSpPr>
            <p:cNvPr id="5" name="Google Shape;185;p38">
              <a:extLst>
                <a:ext uri="{FF2B5EF4-FFF2-40B4-BE49-F238E27FC236}">
                  <a16:creationId xmlns:a16="http://schemas.microsoft.com/office/drawing/2014/main" id="{195AF7F5-E2F3-6982-F298-C27CD7D263B2}"/>
                </a:ext>
              </a:extLst>
            </p:cNvPr>
            <p:cNvSpPr/>
            <p:nvPr/>
          </p:nvSpPr>
          <p:spPr>
            <a:xfrm>
              <a:off x="514350" y="1483301"/>
              <a:ext cx="819150" cy="45719"/>
            </a:xfrm>
            <a:prstGeom prst="rect">
              <a:avLst/>
            </a:prstGeom>
            <a:solidFill>
              <a:srgbClr val="3275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" name="Google Shape;187;p38">
            <a:extLst>
              <a:ext uri="{FF2B5EF4-FFF2-40B4-BE49-F238E27FC236}">
                <a16:creationId xmlns:a16="http://schemas.microsoft.com/office/drawing/2014/main" id="{935C4E80-8242-34FE-E703-079A1C22434D}"/>
              </a:ext>
            </a:extLst>
          </p:cNvPr>
          <p:cNvSpPr txBox="1">
            <a:spLocks/>
          </p:cNvSpPr>
          <p:nvPr/>
        </p:nvSpPr>
        <p:spPr>
          <a:xfrm>
            <a:off x="261982" y="1992204"/>
            <a:ext cx="8793117" cy="4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b="1" dirty="0" err="1"/>
              <a:t>Terminologi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Kriptografi</a:t>
            </a:r>
            <a:endParaRPr lang="en-US" b="1" dirty="0"/>
          </a:p>
        </p:txBody>
      </p:sp>
      <p:sp>
        <p:nvSpPr>
          <p:cNvPr id="9" name="Google Shape;187;p38">
            <a:extLst>
              <a:ext uri="{FF2B5EF4-FFF2-40B4-BE49-F238E27FC236}">
                <a16:creationId xmlns:a16="http://schemas.microsoft.com/office/drawing/2014/main" id="{B0016188-3133-6177-2509-7197D57D4F6A}"/>
              </a:ext>
            </a:extLst>
          </p:cNvPr>
          <p:cNvSpPr txBox="1">
            <a:spLocks/>
          </p:cNvSpPr>
          <p:nvPr/>
        </p:nvSpPr>
        <p:spPr>
          <a:xfrm>
            <a:off x="261982" y="2330137"/>
            <a:ext cx="8793117" cy="206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3111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err="1"/>
              <a:t>Pesan</a:t>
            </a:r>
            <a:r>
              <a:rPr lang="en-US" sz="1200" dirty="0"/>
              <a:t>: </a:t>
            </a:r>
            <a:r>
              <a:rPr lang="en-US" sz="1200" b="1" dirty="0"/>
              <a:t> </a:t>
            </a:r>
            <a:r>
              <a:rPr lang="en-US" sz="1200" dirty="0"/>
              <a:t>data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yang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dibaca</a:t>
            </a:r>
            <a:r>
              <a:rPr lang="en-US" sz="1200" dirty="0"/>
              <a:t>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dipahami</a:t>
            </a:r>
            <a:r>
              <a:rPr lang="en-US" sz="1200" dirty="0"/>
              <a:t> </a:t>
            </a:r>
            <a:r>
              <a:rPr lang="en-US" sz="1200" dirty="0" err="1"/>
              <a:t>maknanya</a:t>
            </a:r>
            <a:r>
              <a:rPr lang="en-US" sz="1200" dirty="0"/>
              <a:t>.</a:t>
            </a:r>
          </a:p>
          <a:p>
            <a:pPr marL="3111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/>
              <a:t>Plaintext </a:t>
            </a:r>
            <a:r>
              <a:rPr lang="en-US" sz="1200" dirty="0"/>
              <a:t>: </a:t>
            </a:r>
            <a:r>
              <a:rPr lang="en-US" sz="1200" dirty="0" err="1"/>
              <a:t>pesan</a:t>
            </a:r>
            <a:r>
              <a:rPr lang="en-US" sz="1200" dirty="0"/>
              <a:t> </a:t>
            </a:r>
            <a:r>
              <a:rPr lang="en-US" sz="1200" dirty="0" err="1"/>
              <a:t>asli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</a:t>
            </a:r>
            <a:r>
              <a:rPr lang="en-US" sz="1200" dirty="0" err="1"/>
              <a:t>kumpul</a:t>
            </a:r>
            <a:r>
              <a:rPr lang="en-US" sz="1200" dirty="0"/>
              <a:t> </a:t>
            </a:r>
            <a:r>
              <a:rPr lang="en-US" sz="1200" dirty="0" err="1"/>
              <a:t>karakter</a:t>
            </a:r>
            <a:r>
              <a:rPr lang="en-US" sz="1200" dirty="0"/>
              <a:t> yang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abjad, </a:t>
            </a:r>
            <a:r>
              <a:rPr lang="en-US" sz="1200" dirty="0" err="1"/>
              <a:t>angka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simbol</a:t>
            </a:r>
            <a:r>
              <a:rPr lang="en-US" sz="1200" dirty="0"/>
              <a:t> yang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dibaca</a:t>
            </a:r>
            <a:r>
              <a:rPr lang="en-US" sz="1200" dirty="0"/>
              <a:t> dan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makna</a:t>
            </a:r>
            <a:endParaRPr lang="en-US" sz="1200" dirty="0"/>
          </a:p>
          <a:p>
            <a:pPr marL="3111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/>
              <a:t>Ciphertext</a:t>
            </a:r>
            <a:r>
              <a:rPr lang="en-US" sz="1200" dirty="0"/>
              <a:t> :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pesan</a:t>
            </a:r>
            <a:r>
              <a:rPr lang="en-US" sz="1200" dirty="0"/>
              <a:t> yang </a:t>
            </a:r>
            <a:r>
              <a:rPr lang="en-US" sz="1200" dirty="0" err="1"/>
              <a:t>telah</a:t>
            </a:r>
            <a:r>
              <a:rPr lang="en-US" sz="1200" dirty="0"/>
              <a:t> </a:t>
            </a:r>
            <a:r>
              <a:rPr lang="en-US" sz="1200" dirty="0" err="1"/>
              <a:t>mengalami</a:t>
            </a:r>
            <a:r>
              <a:rPr lang="en-US" sz="1200" dirty="0"/>
              <a:t> proses </a:t>
            </a:r>
            <a:r>
              <a:rPr lang="en-US" sz="1200" dirty="0" err="1"/>
              <a:t>penyandian</a:t>
            </a:r>
            <a:r>
              <a:rPr lang="en-US" sz="1200" dirty="0"/>
              <a:t> </a:t>
            </a:r>
            <a:r>
              <a:rPr lang="en-US" sz="1200" dirty="0" err="1"/>
              <a:t>sehingga</a:t>
            </a:r>
            <a:r>
              <a:rPr lang="en-US" sz="1200" dirty="0"/>
              <a:t> </a:t>
            </a:r>
            <a:r>
              <a:rPr lang="en-US" sz="1200" dirty="0" err="1"/>
              <a:t>bentuknya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lagi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dibaca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dipahami</a:t>
            </a:r>
            <a:r>
              <a:rPr lang="en-US" sz="1200" dirty="0"/>
              <a:t> </a:t>
            </a:r>
            <a:r>
              <a:rPr lang="en-US" sz="1200" dirty="0" err="1"/>
              <a:t>maknanya</a:t>
            </a:r>
            <a:r>
              <a:rPr lang="en-US" sz="1200" dirty="0"/>
              <a:t>, </a:t>
            </a:r>
            <a:r>
              <a:rPr lang="en-US" sz="1200" dirty="0" err="1"/>
              <a:t>sehingga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dimengerti</a:t>
            </a:r>
            <a:r>
              <a:rPr lang="en-US" sz="1200" dirty="0"/>
              <a:t> oleh </a:t>
            </a:r>
            <a:r>
              <a:rPr lang="en-US" sz="1200" dirty="0" err="1"/>
              <a:t>pihak</a:t>
            </a:r>
            <a:r>
              <a:rPr lang="en-US" sz="1200" dirty="0"/>
              <a:t> yang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berwenang</a:t>
            </a:r>
            <a:r>
              <a:rPr lang="en-US" sz="1200" dirty="0"/>
              <a:t>.</a:t>
            </a:r>
          </a:p>
          <a:p>
            <a:pPr marL="3111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err="1"/>
              <a:t>Enkripsi</a:t>
            </a:r>
            <a:r>
              <a:rPr lang="en-US" sz="1200" dirty="0"/>
              <a:t>: proses </a:t>
            </a:r>
            <a:r>
              <a:rPr lang="en-US" sz="1200" dirty="0" err="1"/>
              <a:t>mengubah</a:t>
            </a:r>
            <a:r>
              <a:rPr lang="en-US" sz="1200" dirty="0"/>
              <a:t> </a:t>
            </a:r>
            <a:r>
              <a:rPr lang="en-US" sz="1200" i="1" dirty="0"/>
              <a:t>plaintext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i="1" dirty="0"/>
              <a:t>ciphertext</a:t>
            </a:r>
            <a:r>
              <a:rPr lang="en-US" sz="1200" dirty="0"/>
              <a:t>.</a:t>
            </a:r>
          </a:p>
          <a:p>
            <a:pPr marL="3111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err="1"/>
              <a:t>Dekripsi</a:t>
            </a:r>
            <a:r>
              <a:rPr lang="en-US" sz="1200" dirty="0"/>
              <a:t>: proses </a:t>
            </a:r>
            <a:r>
              <a:rPr lang="en-US" sz="1200" dirty="0" err="1"/>
              <a:t>mengubah</a:t>
            </a:r>
            <a:r>
              <a:rPr lang="en-US" sz="1200" dirty="0"/>
              <a:t> </a:t>
            </a:r>
            <a:r>
              <a:rPr lang="en-US" sz="1200" i="1" dirty="0"/>
              <a:t>ciphertext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i="1" dirty="0"/>
              <a:t>plaintext</a:t>
            </a:r>
          </a:p>
        </p:txBody>
      </p:sp>
    </p:spTree>
    <p:extLst>
      <p:ext uri="{BB962C8B-B14F-4D97-AF65-F5344CB8AC3E}">
        <p14:creationId xmlns:p14="http://schemas.microsoft.com/office/powerpoint/2010/main" val="2074128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CA0B6580-CF8B-CFE7-E26C-FEEBC0049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A873AC58-93EF-78B0-963B-89A85C07BA87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8" y="383255"/>
            <a:ext cx="425393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Tinjauan Pustaka [2]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1D024601-F39B-4B27-6639-2CF642F23CBF}"/>
              </a:ext>
            </a:extLst>
          </p:cNvPr>
          <p:cNvSpPr/>
          <p:nvPr/>
        </p:nvSpPr>
        <p:spPr>
          <a:xfrm>
            <a:off x="-209227" y="4853940"/>
            <a:ext cx="9353227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DB1C3872-AA38-BE71-D371-0FB4771614BC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CE9CC577-6D88-A59F-5BC8-AD82E533A957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2CEB4BDC-27EA-43DC-FA30-C89FB26B4A54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8" name="Google Shape;187;p38">
            <a:extLst>
              <a:ext uri="{FF2B5EF4-FFF2-40B4-BE49-F238E27FC236}">
                <a16:creationId xmlns:a16="http://schemas.microsoft.com/office/drawing/2014/main" id="{112FC8CA-4D04-9D8E-E406-0EEFB8B53AB7}"/>
              </a:ext>
            </a:extLst>
          </p:cNvPr>
          <p:cNvSpPr txBox="1">
            <a:spLocks/>
          </p:cNvSpPr>
          <p:nvPr/>
        </p:nvSpPr>
        <p:spPr>
          <a:xfrm>
            <a:off x="261983" y="882025"/>
            <a:ext cx="8793117" cy="4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800" b="1" dirty="0" err="1"/>
              <a:t>Algoritma</a:t>
            </a:r>
            <a:r>
              <a:rPr lang="en-US" sz="1800" b="1" dirty="0"/>
              <a:t> </a:t>
            </a:r>
            <a:r>
              <a:rPr lang="en-US" sz="1800" b="1" dirty="0" err="1"/>
              <a:t>Kriptografi</a:t>
            </a:r>
            <a:endParaRPr lang="en-US" sz="1800" b="1" dirty="0"/>
          </a:p>
        </p:txBody>
      </p:sp>
      <p:sp>
        <p:nvSpPr>
          <p:cNvPr id="9" name="Google Shape;187;p38">
            <a:extLst>
              <a:ext uri="{FF2B5EF4-FFF2-40B4-BE49-F238E27FC236}">
                <a16:creationId xmlns:a16="http://schemas.microsoft.com/office/drawing/2014/main" id="{F043AF4A-EEE6-FB98-4B05-7847278CF44E}"/>
              </a:ext>
            </a:extLst>
          </p:cNvPr>
          <p:cNvSpPr txBox="1">
            <a:spLocks/>
          </p:cNvSpPr>
          <p:nvPr/>
        </p:nvSpPr>
        <p:spPr>
          <a:xfrm>
            <a:off x="676209" y="1743501"/>
            <a:ext cx="8226698" cy="120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200" dirty="0" err="1"/>
              <a:t>Algoritma</a:t>
            </a:r>
            <a:r>
              <a:rPr lang="en-US" sz="1200" dirty="0"/>
              <a:t> </a:t>
            </a:r>
            <a:r>
              <a:rPr lang="en-US" sz="1200" dirty="0" err="1"/>
              <a:t>simetri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yang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 yang </a:t>
            </a:r>
            <a:r>
              <a:rPr lang="en-US" sz="1200" dirty="0" err="1"/>
              <a:t>sama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proses </a:t>
            </a:r>
            <a:r>
              <a:rPr lang="en-US" sz="1200" dirty="0" err="1"/>
              <a:t>enkripsi</a:t>
            </a:r>
            <a:r>
              <a:rPr lang="en-US" sz="1200" dirty="0"/>
              <a:t> dan </a:t>
            </a:r>
            <a:r>
              <a:rPr lang="en-US" sz="1200" dirty="0" err="1"/>
              <a:t>dekripsi</a:t>
            </a:r>
            <a:r>
              <a:rPr lang="en-US" sz="1200" dirty="0"/>
              <a:t>. </a:t>
            </a:r>
            <a:r>
              <a:rPr lang="en-US" sz="1200" dirty="0" err="1"/>
              <a:t>Contoh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yang </a:t>
            </a:r>
            <a:r>
              <a:rPr lang="en-US" sz="1200" dirty="0" err="1"/>
              <a:t>memakai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 </a:t>
            </a:r>
            <a:r>
              <a:rPr lang="en-US" sz="1200" dirty="0" err="1"/>
              <a:t>simetri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Hill Cipher, Advance Encryption Standard (AES), One Time Pad, dan lain </a:t>
            </a:r>
            <a:r>
              <a:rPr lang="en-US" sz="1200" dirty="0" err="1"/>
              <a:t>sebagainya</a:t>
            </a:r>
            <a:r>
              <a:rPr lang="en-US" sz="1200" dirty="0"/>
              <a:t>.</a:t>
            </a:r>
            <a:endParaRPr lang="en-US" sz="1100" dirty="0"/>
          </a:p>
        </p:txBody>
      </p:sp>
      <p:sp>
        <p:nvSpPr>
          <p:cNvPr id="6" name="Google Shape;187;p38">
            <a:extLst>
              <a:ext uri="{FF2B5EF4-FFF2-40B4-BE49-F238E27FC236}">
                <a16:creationId xmlns:a16="http://schemas.microsoft.com/office/drawing/2014/main" id="{B1D440B9-B810-E134-B839-FA81E4BA4E50}"/>
              </a:ext>
            </a:extLst>
          </p:cNvPr>
          <p:cNvSpPr txBox="1">
            <a:spLocks/>
          </p:cNvSpPr>
          <p:nvPr/>
        </p:nvSpPr>
        <p:spPr>
          <a:xfrm>
            <a:off x="318068" y="1312763"/>
            <a:ext cx="8793117" cy="4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4826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Algorima</a:t>
            </a:r>
            <a:r>
              <a:rPr lang="en-US" dirty="0"/>
              <a:t> </a:t>
            </a:r>
            <a:r>
              <a:rPr lang="en-US" dirty="0" err="1"/>
              <a:t>Simetri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D7566D-1140-389D-9D03-9ACD740276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28"/>
          <a:stretch>
            <a:fillRect/>
          </a:stretch>
        </p:blipFill>
        <p:spPr bwMode="auto">
          <a:xfrm>
            <a:off x="1846293" y="2756769"/>
            <a:ext cx="5451411" cy="112500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5" name="Google Shape;187;p38">
            <a:extLst>
              <a:ext uri="{FF2B5EF4-FFF2-40B4-BE49-F238E27FC236}">
                <a16:creationId xmlns:a16="http://schemas.microsoft.com/office/drawing/2014/main" id="{E4A83897-34F2-4E48-4DBB-9413F5A8A90C}"/>
              </a:ext>
            </a:extLst>
          </p:cNvPr>
          <p:cNvSpPr txBox="1">
            <a:spLocks/>
          </p:cNvSpPr>
          <p:nvPr/>
        </p:nvSpPr>
        <p:spPr>
          <a:xfrm>
            <a:off x="2515338" y="3851025"/>
            <a:ext cx="4113319" cy="4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100" dirty="0"/>
              <a:t>Gambar 1. Proses </a:t>
            </a:r>
            <a:r>
              <a:rPr lang="en-US" sz="1100" dirty="0" err="1"/>
              <a:t>enkripsi</a:t>
            </a:r>
            <a:r>
              <a:rPr lang="en-US" sz="1100" dirty="0"/>
              <a:t> dan </a:t>
            </a:r>
            <a:r>
              <a:rPr lang="en-US" sz="1100" dirty="0" err="1"/>
              <a:t>dekripsi</a:t>
            </a:r>
            <a:r>
              <a:rPr lang="en-US" sz="1100" dirty="0"/>
              <a:t> </a:t>
            </a:r>
            <a:r>
              <a:rPr lang="en-US" sz="1100" dirty="0" err="1"/>
              <a:t>algoritma</a:t>
            </a:r>
            <a:r>
              <a:rPr lang="en-US" sz="1100" dirty="0"/>
              <a:t> </a:t>
            </a:r>
            <a:r>
              <a:rPr lang="en-US" sz="1100" dirty="0" err="1"/>
              <a:t>simetri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90685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363E5953-7783-BCC6-0160-987774A82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CCBA457C-1ACA-89C3-7D2C-2E5FE86B63A5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8" y="383255"/>
            <a:ext cx="425393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Tinjauan Pustaka [3]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7C72C1BA-4523-C092-68BA-0C74978E07BD}"/>
              </a:ext>
            </a:extLst>
          </p:cNvPr>
          <p:cNvSpPr/>
          <p:nvPr/>
        </p:nvSpPr>
        <p:spPr>
          <a:xfrm>
            <a:off x="-209227" y="4853940"/>
            <a:ext cx="9353227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4D84DB84-CD2E-6F57-2567-B950660D65AB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01DF4B80-122D-EA15-14A6-6C516073AD3C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36696FE8-7F0E-8FCC-C725-0EF7C03C5C8F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9" name="Google Shape;187;p38">
            <a:extLst>
              <a:ext uri="{FF2B5EF4-FFF2-40B4-BE49-F238E27FC236}">
                <a16:creationId xmlns:a16="http://schemas.microsoft.com/office/drawing/2014/main" id="{EECF16CF-C5F6-3AA4-3EAF-05CB3467302D}"/>
              </a:ext>
            </a:extLst>
          </p:cNvPr>
          <p:cNvSpPr txBox="1">
            <a:spLocks/>
          </p:cNvSpPr>
          <p:nvPr/>
        </p:nvSpPr>
        <p:spPr>
          <a:xfrm>
            <a:off x="676209" y="1387901"/>
            <a:ext cx="8226698" cy="120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100" dirty="0" err="1"/>
              <a:t>Algoritma</a:t>
            </a:r>
            <a:r>
              <a:rPr lang="en-US" sz="1100" dirty="0"/>
              <a:t> </a:t>
            </a:r>
            <a:r>
              <a:rPr lang="en-US" sz="1100" dirty="0" err="1"/>
              <a:t>asimetri</a:t>
            </a:r>
            <a:r>
              <a:rPr lang="en-US" sz="1100" dirty="0"/>
              <a:t> </a:t>
            </a:r>
            <a:r>
              <a:rPr lang="en-US" sz="1100" dirty="0" err="1"/>
              <a:t>adalah</a:t>
            </a:r>
            <a:r>
              <a:rPr lang="en-US" sz="1100" dirty="0"/>
              <a:t> </a:t>
            </a:r>
            <a:r>
              <a:rPr lang="en-US" sz="1100" dirty="0" err="1"/>
              <a:t>algoritma</a:t>
            </a:r>
            <a:r>
              <a:rPr lang="en-US" sz="1100" dirty="0"/>
              <a:t> yang </a:t>
            </a:r>
            <a:r>
              <a:rPr lang="en-US" sz="1100" dirty="0" err="1"/>
              <a:t>menggunakan</a:t>
            </a:r>
            <a:r>
              <a:rPr lang="en-US" sz="1100" dirty="0"/>
              <a:t> </a:t>
            </a:r>
            <a:r>
              <a:rPr lang="en-US" sz="1100" dirty="0" err="1"/>
              <a:t>kunci</a:t>
            </a:r>
            <a:r>
              <a:rPr lang="en-US" sz="1100" dirty="0"/>
              <a:t> </a:t>
            </a:r>
            <a:r>
              <a:rPr lang="en-US" sz="1100" dirty="0" err="1"/>
              <a:t>berbeda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proses </a:t>
            </a:r>
            <a:r>
              <a:rPr lang="en-US" sz="1100" dirty="0" err="1"/>
              <a:t>enkripsi</a:t>
            </a:r>
            <a:r>
              <a:rPr lang="en-US" sz="1100" dirty="0"/>
              <a:t> dan </a:t>
            </a:r>
            <a:r>
              <a:rPr lang="en-US" sz="1100" dirty="0" err="1"/>
              <a:t>dekripsinya</a:t>
            </a:r>
            <a:r>
              <a:rPr lang="en-US" sz="1100" dirty="0"/>
              <a:t>. </a:t>
            </a:r>
            <a:r>
              <a:rPr lang="en-US" sz="1100" dirty="0" err="1"/>
              <a:t>Kunci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enkripsi</a:t>
            </a:r>
            <a:r>
              <a:rPr lang="en-US" sz="1100" dirty="0"/>
              <a:t> </a:t>
            </a:r>
            <a:r>
              <a:rPr lang="en-US" sz="1100" dirty="0" err="1"/>
              <a:t>dibuat</a:t>
            </a:r>
            <a:r>
              <a:rPr lang="en-US" sz="1100" dirty="0"/>
              <a:t> </a:t>
            </a:r>
            <a:r>
              <a:rPr lang="en-US" sz="1100" dirty="0" err="1"/>
              <a:t>umum</a:t>
            </a:r>
            <a:r>
              <a:rPr lang="en-US" sz="1100" dirty="0"/>
              <a:t> (</a:t>
            </a:r>
            <a:r>
              <a:rPr lang="en-US" sz="1100" i="1" dirty="0"/>
              <a:t>public key</a:t>
            </a:r>
            <a:r>
              <a:rPr lang="en-US" sz="1100" dirty="0"/>
              <a:t>) </a:t>
            </a:r>
            <a:r>
              <a:rPr lang="en-US" sz="1100" dirty="0" err="1"/>
              <a:t>atau</a:t>
            </a:r>
            <a:r>
              <a:rPr lang="en-US" sz="1100" dirty="0"/>
              <a:t> </a:t>
            </a:r>
            <a:r>
              <a:rPr lang="en-US" sz="1100" dirty="0" err="1"/>
              <a:t>dapat</a:t>
            </a:r>
            <a:r>
              <a:rPr lang="en-US" sz="1100" dirty="0"/>
              <a:t> </a:t>
            </a:r>
            <a:r>
              <a:rPr lang="en-US" sz="1100" dirty="0" err="1"/>
              <a:t>diketahui</a:t>
            </a:r>
            <a:r>
              <a:rPr lang="en-US" sz="1100" dirty="0"/>
              <a:t> oleh </a:t>
            </a:r>
            <a:r>
              <a:rPr lang="en-US" sz="1100" dirty="0" err="1"/>
              <a:t>setiap</a:t>
            </a:r>
            <a:r>
              <a:rPr lang="en-US" sz="1100" dirty="0"/>
              <a:t> orang, </a:t>
            </a:r>
            <a:r>
              <a:rPr lang="en-US" sz="1100" dirty="0" err="1"/>
              <a:t>tapi</a:t>
            </a:r>
            <a:r>
              <a:rPr lang="en-US" sz="1100" dirty="0"/>
              <a:t> </a:t>
            </a:r>
            <a:r>
              <a:rPr lang="en-US" sz="1100" dirty="0" err="1"/>
              <a:t>kunci</a:t>
            </a:r>
            <a:r>
              <a:rPr lang="en-US" sz="1100" dirty="0"/>
              <a:t> </a:t>
            </a:r>
            <a:r>
              <a:rPr lang="en-US" sz="1100" dirty="0" err="1"/>
              <a:t>untuk</a:t>
            </a:r>
            <a:r>
              <a:rPr lang="en-US" sz="1100" dirty="0"/>
              <a:t> </a:t>
            </a:r>
            <a:r>
              <a:rPr lang="en-US" sz="1100" dirty="0" err="1"/>
              <a:t>dekripsinya</a:t>
            </a:r>
            <a:r>
              <a:rPr lang="en-US" sz="1100" dirty="0"/>
              <a:t> </a:t>
            </a:r>
            <a:r>
              <a:rPr lang="en-US" sz="1100" dirty="0" err="1"/>
              <a:t>hanya</a:t>
            </a:r>
            <a:r>
              <a:rPr lang="en-US" sz="1100" dirty="0"/>
              <a:t> </a:t>
            </a:r>
            <a:r>
              <a:rPr lang="en-US" sz="1100" dirty="0" err="1"/>
              <a:t>diketahui</a:t>
            </a:r>
            <a:r>
              <a:rPr lang="en-US" sz="1100" dirty="0"/>
              <a:t> oleh orang yang </a:t>
            </a:r>
            <a:r>
              <a:rPr lang="en-US" sz="1100" dirty="0" err="1"/>
              <a:t>berwenang</a:t>
            </a:r>
            <a:r>
              <a:rPr lang="en-US" sz="1100" dirty="0"/>
              <a:t> </a:t>
            </a:r>
            <a:r>
              <a:rPr lang="en-US" sz="1100" dirty="0" err="1"/>
              <a:t>atau</a:t>
            </a:r>
            <a:r>
              <a:rPr lang="en-US" sz="1100" dirty="0"/>
              <a:t> </a:t>
            </a:r>
            <a:r>
              <a:rPr lang="en-US" sz="1100" dirty="0" err="1"/>
              <a:t>sering</a:t>
            </a:r>
            <a:r>
              <a:rPr lang="en-US" sz="1100" dirty="0"/>
              <a:t> </a:t>
            </a:r>
            <a:r>
              <a:rPr lang="en-US" sz="1100" dirty="0" err="1"/>
              <a:t>disebut</a:t>
            </a:r>
            <a:r>
              <a:rPr lang="en-US" sz="1100" dirty="0"/>
              <a:t> </a:t>
            </a:r>
            <a:r>
              <a:rPr lang="en-US" sz="1100" dirty="0" err="1"/>
              <a:t>kunci</a:t>
            </a:r>
            <a:r>
              <a:rPr lang="en-US" sz="1100" dirty="0"/>
              <a:t> </a:t>
            </a:r>
            <a:r>
              <a:rPr lang="en-US" sz="1100" dirty="0" err="1"/>
              <a:t>pribadi</a:t>
            </a:r>
            <a:r>
              <a:rPr lang="en-US" sz="1100" dirty="0"/>
              <a:t> (</a:t>
            </a:r>
            <a:r>
              <a:rPr lang="en-US" sz="1100" i="1" dirty="0"/>
              <a:t>private key</a:t>
            </a:r>
            <a:r>
              <a:rPr lang="en-US" sz="1100" dirty="0"/>
              <a:t>).</a:t>
            </a:r>
          </a:p>
        </p:txBody>
      </p:sp>
      <p:sp>
        <p:nvSpPr>
          <p:cNvPr id="6" name="Google Shape;187;p38">
            <a:extLst>
              <a:ext uri="{FF2B5EF4-FFF2-40B4-BE49-F238E27FC236}">
                <a16:creationId xmlns:a16="http://schemas.microsoft.com/office/drawing/2014/main" id="{C065F390-2244-058D-2C53-FE5E33153485}"/>
              </a:ext>
            </a:extLst>
          </p:cNvPr>
          <p:cNvSpPr txBox="1">
            <a:spLocks/>
          </p:cNvSpPr>
          <p:nvPr/>
        </p:nvSpPr>
        <p:spPr>
          <a:xfrm>
            <a:off x="318068" y="957163"/>
            <a:ext cx="8793117" cy="4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482600" indent="-342900" algn="l">
              <a:lnSpc>
                <a:spcPct val="150000"/>
              </a:lnSpc>
              <a:buFont typeface="+mj-lt"/>
              <a:buAutoNum type="arabicPeriod" startAt="2"/>
            </a:pPr>
            <a:r>
              <a:rPr lang="en-US" dirty="0" err="1"/>
              <a:t>Algorima</a:t>
            </a:r>
            <a:r>
              <a:rPr lang="en-US" dirty="0"/>
              <a:t> </a:t>
            </a:r>
            <a:r>
              <a:rPr lang="en-US" dirty="0" err="1"/>
              <a:t>Asimetri</a:t>
            </a:r>
            <a:endParaRPr lang="en-US" dirty="0"/>
          </a:p>
        </p:txBody>
      </p:sp>
      <p:sp>
        <p:nvSpPr>
          <p:cNvPr id="14" name="Google Shape;187;p38">
            <a:extLst>
              <a:ext uri="{FF2B5EF4-FFF2-40B4-BE49-F238E27FC236}">
                <a16:creationId xmlns:a16="http://schemas.microsoft.com/office/drawing/2014/main" id="{2649D7FA-2FEF-4638-F6B9-65590B248421}"/>
              </a:ext>
            </a:extLst>
          </p:cNvPr>
          <p:cNvSpPr txBox="1">
            <a:spLocks/>
          </p:cNvSpPr>
          <p:nvPr/>
        </p:nvSpPr>
        <p:spPr>
          <a:xfrm>
            <a:off x="2515339" y="3634562"/>
            <a:ext cx="4113319" cy="4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100" dirty="0"/>
              <a:t>Gambar 2. Proses </a:t>
            </a:r>
            <a:r>
              <a:rPr lang="en-US" sz="1100" dirty="0" err="1"/>
              <a:t>enkripsi</a:t>
            </a:r>
            <a:r>
              <a:rPr lang="en-US" sz="1100" dirty="0"/>
              <a:t> dan </a:t>
            </a:r>
            <a:r>
              <a:rPr lang="en-US" sz="1100" dirty="0" err="1"/>
              <a:t>dekripsi</a:t>
            </a:r>
            <a:r>
              <a:rPr lang="en-US" sz="1100" dirty="0"/>
              <a:t> </a:t>
            </a:r>
            <a:r>
              <a:rPr lang="en-US" sz="1100" dirty="0" err="1"/>
              <a:t>algoritma</a:t>
            </a:r>
            <a:r>
              <a:rPr lang="en-US" sz="1100" dirty="0"/>
              <a:t> </a:t>
            </a:r>
            <a:r>
              <a:rPr lang="en-US" sz="1100" dirty="0" err="1"/>
              <a:t>asimetri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1ADD76-9FB9-4468-2C24-06AAD7781B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98"/>
          <a:stretch>
            <a:fillRect/>
          </a:stretch>
        </p:blipFill>
        <p:spPr bwMode="auto">
          <a:xfrm>
            <a:off x="1972280" y="2564595"/>
            <a:ext cx="5199438" cy="10699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30587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773204CA-36ED-F838-C802-BF489C06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FD777FE2-FEDD-D7ED-9DD4-FB2CF6FDDAF1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8" y="383255"/>
            <a:ext cx="425393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Tinjauan Pustaka [4]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643E4848-CC6D-B2FE-2D79-823FA92B2A26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786F5BF6-210B-54AB-041B-510C841FAE42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9EA7F3A4-9BD1-FDFB-5F21-AFA8E7451F74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0BFE9FB4-1B6B-8673-7011-0BC0B638F716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4" name="Google Shape;187;p38">
            <a:extLst>
              <a:ext uri="{FF2B5EF4-FFF2-40B4-BE49-F238E27FC236}">
                <a16:creationId xmlns:a16="http://schemas.microsoft.com/office/drawing/2014/main" id="{13E8BD25-6152-137D-02B0-2D73063EB408}"/>
              </a:ext>
            </a:extLst>
          </p:cNvPr>
          <p:cNvSpPr txBox="1">
            <a:spLocks/>
          </p:cNvSpPr>
          <p:nvPr/>
        </p:nvSpPr>
        <p:spPr>
          <a:xfrm>
            <a:off x="242088" y="1828103"/>
            <a:ext cx="4242070" cy="69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matematis</a:t>
            </a:r>
            <a:r>
              <a:rPr lang="en-US" sz="1200" dirty="0"/>
              <a:t>, </a:t>
            </a:r>
            <a:r>
              <a:rPr lang="en-US" sz="1200" dirty="0" err="1"/>
              <a:t>tahapan</a:t>
            </a:r>
            <a:r>
              <a:rPr lang="en-US" sz="1200" dirty="0"/>
              <a:t> </a:t>
            </a:r>
            <a:r>
              <a:rPr lang="en-US" sz="1200" dirty="0" err="1"/>
              <a:t>enkripsi</a:t>
            </a:r>
            <a:r>
              <a:rPr lang="en-US" sz="1200" dirty="0"/>
              <a:t> pada Hill Cipher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dinyatakan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berikut</a:t>
            </a:r>
            <a:r>
              <a:rPr lang="en-US" sz="1200" dirty="0"/>
              <a:t>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62F3DB3-E9D2-6589-A410-7E69E8C5DF8F}"/>
              </a:ext>
            </a:extLst>
          </p:cNvPr>
          <p:cNvGrpSpPr/>
          <p:nvPr/>
        </p:nvGrpSpPr>
        <p:grpSpPr>
          <a:xfrm>
            <a:off x="362265" y="1112927"/>
            <a:ext cx="2394651" cy="336845"/>
            <a:chOff x="417129" y="1192175"/>
            <a:chExt cx="2394651" cy="336845"/>
          </a:xfrm>
        </p:grpSpPr>
        <p:sp>
          <p:nvSpPr>
            <p:cNvPr id="3" name="Google Shape;250;p44">
              <a:extLst>
                <a:ext uri="{FF2B5EF4-FFF2-40B4-BE49-F238E27FC236}">
                  <a16:creationId xmlns:a16="http://schemas.microsoft.com/office/drawing/2014/main" id="{6757BBE8-3A85-A03E-A387-B811E138BA7D}"/>
                </a:ext>
              </a:extLst>
            </p:cNvPr>
            <p:cNvSpPr txBox="1">
              <a:spLocks/>
            </p:cNvSpPr>
            <p:nvPr/>
          </p:nvSpPr>
          <p:spPr>
            <a:xfrm>
              <a:off x="417129" y="1192175"/>
              <a:ext cx="2394651" cy="315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3235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Epilogue"/>
                <a:buNone/>
                <a:defRPr sz="2800" b="0" i="0" u="none" strike="noStrike" cap="none">
                  <a:solidFill>
                    <a:schemeClr val="lt1"/>
                  </a:solidFill>
                  <a:latin typeface="Epilogue"/>
                  <a:ea typeface="Epilogue"/>
                  <a:cs typeface="Epilogue"/>
                  <a:sym typeface="Epilogu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l">
                <a:spcAft>
                  <a:spcPts val="600"/>
                </a:spcAft>
              </a:pPr>
              <a:r>
                <a:rPr lang="en-US" sz="1800" b="1" i="1" dirty="0"/>
                <a:t>Hill Cipher</a:t>
              </a:r>
            </a:p>
          </p:txBody>
        </p:sp>
        <p:sp>
          <p:nvSpPr>
            <p:cNvPr id="5" name="Google Shape;185;p38">
              <a:extLst>
                <a:ext uri="{FF2B5EF4-FFF2-40B4-BE49-F238E27FC236}">
                  <a16:creationId xmlns:a16="http://schemas.microsoft.com/office/drawing/2014/main" id="{1DB0D8E9-1258-AB6C-1380-47A0CC6A1101}"/>
                </a:ext>
              </a:extLst>
            </p:cNvPr>
            <p:cNvSpPr/>
            <p:nvPr/>
          </p:nvSpPr>
          <p:spPr>
            <a:xfrm>
              <a:off x="514350" y="1483301"/>
              <a:ext cx="819150" cy="45719"/>
            </a:xfrm>
            <a:prstGeom prst="rect">
              <a:avLst/>
            </a:prstGeom>
            <a:solidFill>
              <a:srgbClr val="3275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87;p38">
                <a:extLst>
                  <a:ext uri="{FF2B5EF4-FFF2-40B4-BE49-F238E27FC236}">
                    <a16:creationId xmlns:a16="http://schemas.microsoft.com/office/drawing/2014/main" id="{C2B30D2C-43A6-C6E2-7422-3F67B7D223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8069" y="2600342"/>
                <a:ext cx="1333948" cy="4355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eqAr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Google Shape;187;p38">
                <a:extLst>
                  <a:ext uri="{FF2B5EF4-FFF2-40B4-BE49-F238E27FC236}">
                    <a16:creationId xmlns:a16="http://schemas.microsoft.com/office/drawing/2014/main" id="{C2B30D2C-43A6-C6E2-7422-3F67B7D22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69" y="2600342"/>
                <a:ext cx="1333948" cy="435543"/>
              </a:xfrm>
              <a:prstGeom prst="rect">
                <a:avLst/>
              </a:prstGeom>
              <a:blipFill>
                <a:blip r:embed="rId3"/>
                <a:stretch>
                  <a:fillRect r="-187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187;p38">
                <a:extLst>
                  <a:ext uri="{FF2B5EF4-FFF2-40B4-BE49-F238E27FC236}">
                    <a16:creationId xmlns:a16="http://schemas.microsoft.com/office/drawing/2014/main" id="{574BC887-5E0D-A67F-790B-02782D9642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495" y="3086486"/>
                <a:ext cx="2516189" cy="15014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:r>
                  <a:rPr lang="fr-FR" sz="1200" dirty="0" err="1"/>
                  <a:t>Keterangan</a:t>
                </a:r>
                <a:r>
                  <a:rPr lang="fr-FR" sz="1200" dirty="0"/>
                  <a:t>: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1200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fr-FR" sz="1200" dirty="0"/>
                  <a:t> 	: </a:t>
                </a:r>
                <a:r>
                  <a:rPr lang="fr-FR" sz="1200" dirty="0" err="1"/>
                  <a:t>Ciphertext</a:t>
                </a:r>
                <a:endParaRPr lang="fr-FR" sz="1200" dirty="0"/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1200" b="1" i="1" dirty="0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fr-FR" sz="1200" dirty="0"/>
                  <a:t> 	: </a:t>
                </a:r>
                <a:r>
                  <a:rPr lang="fr-FR" sz="1200" dirty="0" err="1"/>
                  <a:t>Plaintext</a:t>
                </a:r>
                <a:endParaRPr lang="fr-FR" sz="1200" dirty="0"/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1200" b="1" i="1" dirty="0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fr-FR" sz="1200" dirty="0"/>
                  <a:t>	: </a:t>
                </a:r>
                <a:r>
                  <a:rPr lang="fr-FR" sz="1200" dirty="0" err="1"/>
                  <a:t>Matriks</a:t>
                </a:r>
                <a:r>
                  <a:rPr lang="fr-FR" sz="1200" dirty="0"/>
                  <a:t> </a:t>
                </a:r>
                <a:r>
                  <a:rPr lang="fr-FR" sz="1200" dirty="0" err="1"/>
                  <a:t>Kunci</a:t>
                </a:r>
                <a:endParaRPr lang="fr-FR" sz="1200" dirty="0"/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1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	: </a:t>
                </a:r>
                <a:r>
                  <a:rPr lang="fr-FR" sz="1200" dirty="0" err="1"/>
                  <a:t>Nilai</a:t>
                </a:r>
                <a:r>
                  <a:rPr lang="fr-FR" sz="1200" dirty="0"/>
                  <a:t> modulo</a:t>
                </a:r>
              </a:p>
              <a:p>
                <a:pPr marL="115888" indent="23813" algn="l"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7" name="Google Shape;187;p38">
                <a:extLst>
                  <a:ext uri="{FF2B5EF4-FFF2-40B4-BE49-F238E27FC236}">
                    <a16:creationId xmlns:a16="http://schemas.microsoft.com/office/drawing/2014/main" id="{574BC887-5E0D-A67F-790B-02782D964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95" y="3086486"/>
                <a:ext cx="2516189" cy="1501474"/>
              </a:xfrm>
              <a:prstGeom prst="rect">
                <a:avLst/>
              </a:prstGeom>
              <a:blipFill>
                <a:blip r:embed="rId4"/>
                <a:stretch>
                  <a:fillRect b="-16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87;p38">
            <a:extLst>
              <a:ext uri="{FF2B5EF4-FFF2-40B4-BE49-F238E27FC236}">
                <a16:creationId xmlns:a16="http://schemas.microsoft.com/office/drawing/2014/main" id="{66A18C98-5945-3561-B023-CE76995D9632}"/>
              </a:ext>
            </a:extLst>
          </p:cNvPr>
          <p:cNvSpPr txBox="1">
            <a:spLocks/>
          </p:cNvSpPr>
          <p:nvPr/>
        </p:nvSpPr>
        <p:spPr>
          <a:xfrm>
            <a:off x="242088" y="1436946"/>
            <a:ext cx="2202945" cy="435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600" b="1" dirty="0"/>
              <a:t>Proses </a:t>
            </a:r>
            <a:r>
              <a:rPr lang="en-US" sz="1600" b="1" dirty="0" err="1"/>
              <a:t>Enkripsi</a:t>
            </a:r>
            <a:endParaRPr lang="en-US" sz="1600" b="1" dirty="0"/>
          </a:p>
        </p:txBody>
      </p:sp>
      <p:sp>
        <p:nvSpPr>
          <p:cNvPr id="12" name="Google Shape;187;p38">
            <a:extLst>
              <a:ext uri="{FF2B5EF4-FFF2-40B4-BE49-F238E27FC236}">
                <a16:creationId xmlns:a16="http://schemas.microsoft.com/office/drawing/2014/main" id="{A9CC29C7-9F2F-8B21-BF81-6310ED8FA19B}"/>
              </a:ext>
            </a:extLst>
          </p:cNvPr>
          <p:cNvSpPr txBox="1">
            <a:spLocks/>
          </p:cNvSpPr>
          <p:nvPr/>
        </p:nvSpPr>
        <p:spPr>
          <a:xfrm>
            <a:off x="4901930" y="1819258"/>
            <a:ext cx="4242070" cy="69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matematis</a:t>
            </a:r>
            <a:r>
              <a:rPr lang="en-US" sz="1200" dirty="0"/>
              <a:t>, </a:t>
            </a:r>
            <a:r>
              <a:rPr lang="en-US" sz="1200" dirty="0" err="1"/>
              <a:t>tahapan</a:t>
            </a:r>
            <a:r>
              <a:rPr lang="en-US" sz="1200" dirty="0"/>
              <a:t> </a:t>
            </a:r>
            <a:r>
              <a:rPr lang="en-US" sz="1200" dirty="0" err="1"/>
              <a:t>dekripsi</a:t>
            </a:r>
            <a:r>
              <a:rPr lang="en-US" sz="1200" dirty="0"/>
              <a:t> pada Hill Cipher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dinyatakan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berikut</a:t>
            </a:r>
            <a:r>
              <a:rPr lang="en-US" sz="12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187;p38">
                <a:extLst>
                  <a:ext uri="{FF2B5EF4-FFF2-40B4-BE49-F238E27FC236}">
                    <a16:creationId xmlns:a16="http://schemas.microsoft.com/office/drawing/2014/main" id="{2CE165A6-69AE-5DF5-5350-7356882768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77911" y="2591497"/>
                <a:ext cx="2126964" cy="4355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da-DK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a-DK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p>
                          <m:r>
                            <a:rPr lang="da-DK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da-DK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Google Shape;187;p38">
                <a:extLst>
                  <a:ext uri="{FF2B5EF4-FFF2-40B4-BE49-F238E27FC236}">
                    <a16:creationId xmlns:a16="http://schemas.microsoft.com/office/drawing/2014/main" id="{2CE165A6-69AE-5DF5-5350-735688276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911" y="2591497"/>
                <a:ext cx="2126964" cy="4355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187;p38">
                <a:extLst>
                  <a:ext uri="{FF2B5EF4-FFF2-40B4-BE49-F238E27FC236}">
                    <a16:creationId xmlns:a16="http://schemas.microsoft.com/office/drawing/2014/main" id="{E2D3A83C-CEAE-FC29-18B9-824AC50852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61337" y="3077641"/>
                <a:ext cx="3214019" cy="15014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:r>
                  <a:rPr lang="fr-FR" sz="1200" dirty="0"/>
                  <a:t>Keterangan: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1200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fr-FR" sz="1200" dirty="0"/>
                  <a:t> 	: </a:t>
                </a:r>
                <a:r>
                  <a:rPr lang="fr-FR" sz="1200" dirty="0" err="1"/>
                  <a:t>Ciphertext</a:t>
                </a:r>
                <a:endParaRPr lang="fr-FR" sz="1200" dirty="0"/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1200" b="1" i="1" dirty="0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fr-FR" sz="1200" dirty="0"/>
                  <a:t> 	: </a:t>
                </a:r>
                <a:r>
                  <a:rPr lang="fr-FR" sz="1200" dirty="0" err="1"/>
                  <a:t>Plaintext</a:t>
                </a:r>
                <a:endParaRPr lang="fr-FR" sz="1200" dirty="0"/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200" b="1" i="1" dirty="0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p>
                        <m:r>
                          <a:rPr lang="en-US" sz="12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fr-FR" sz="1200" dirty="0"/>
                  <a:t>	: </a:t>
                </a:r>
                <a:r>
                  <a:rPr lang="fr-FR" sz="1200" dirty="0" err="1"/>
                  <a:t>Invers</a:t>
                </a:r>
                <a:r>
                  <a:rPr lang="fr-FR" sz="1200" dirty="0"/>
                  <a:t> </a:t>
                </a:r>
                <a:r>
                  <a:rPr lang="fr-FR" sz="1200" dirty="0" err="1"/>
                  <a:t>Matriks</a:t>
                </a:r>
                <a:r>
                  <a:rPr lang="fr-FR" sz="1200" dirty="0"/>
                  <a:t> </a:t>
                </a:r>
                <a:r>
                  <a:rPr lang="fr-FR" sz="1200" dirty="0" err="1"/>
                  <a:t>Kunci</a:t>
                </a:r>
                <a:endParaRPr lang="fr-FR" sz="1200" dirty="0"/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1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	: </a:t>
                </a:r>
                <a:r>
                  <a:rPr lang="fr-FR" sz="1200" dirty="0" err="1"/>
                  <a:t>Nilai</a:t>
                </a:r>
                <a:r>
                  <a:rPr lang="fr-FR" sz="1200" dirty="0"/>
                  <a:t> modulo</a:t>
                </a:r>
              </a:p>
              <a:p>
                <a:pPr marL="115888" indent="23813" algn="l"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14" name="Google Shape;187;p38">
                <a:extLst>
                  <a:ext uri="{FF2B5EF4-FFF2-40B4-BE49-F238E27FC236}">
                    <a16:creationId xmlns:a16="http://schemas.microsoft.com/office/drawing/2014/main" id="{E2D3A83C-CEAE-FC29-18B9-824AC5085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337" y="3077641"/>
                <a:ext cx="3214019" cy="1501474"/>
              </a:xfrm>
              <a:prstGeom prst="rect">
                <a:avLst/>
              </a:prstGeom>
              <a:blipFill>
                <a:blip r:embed="rId6"/>
                <a:stretch>
                  <a:fillRect b="-20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187;p38">
            <a:extLst>
              <a:ext uri="{FF2B5EF4-FFF2-40B4-BE49-F238E27FC236}">
                <a16:creationId xmlns:a16="http://schemas.microsoft.com/office/drawing/2014/main" id="{57BD3627-DBB4-1600-DF05-A7F1881EC67F}"/>
              </a:ext>
            </a:extLst>
          </p:cNvPr>
          <p:cNvSpPr txBox="1">
            <a:spLocks/>
          </p:cNvSpPr>
          <p:nvPr/>
        </p:nvSpPr>
        <p:spPr>
          <a:xfrm>
            <a:off x="4901930" y="1428101"/>
            <a:ext cx="2202945" cy="435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600" b="1" dirty="0"/>
              <a:t>Proses </a:t>
            </a:r>
            <a:r>
              <a:rPr lang="en-US" sz="1600" b="1" dirty="0" err="1"/>
              <a:t>Dekripsi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821870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60232CBB-9630-8BBB-E2E8-9571A3269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B57B1BCA-AF20-0094-F6A4-0CB3145B79A6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8" y="383255"/>
            <a:ext cx="425393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Tinjauan Pustaka [5]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64016D86-37C3-E33A-FE62-8D970676B900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BF8862D4-3B50-DB56-6E20-C22FC77B0EF4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42106E52-D26D-97A1-B5F6-D29F0E689559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CC6D7B74-D115-E50A-47B8-6A2859EC3CC3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4" name="Google Shape;187;p38">
            <a:extLst>
              <a:ext uri="{FF2B5EF4-FFF2-40B4-BE49-F238E27FC236}">
                <a16:creationId xmlns:a16="http://schemas.microsoft.com/office/drawing/2014/main" id="{7DD226C1-10C2-9072-9E81-D53429213E38}"/>
              </a:ext>
            </a:extLst>
          </p:cNvPr>
          <p:cNvSpPr txBox="1">
            <a:spLocks/>
          </p:cNvSpPr>
          <p:nvPr/>
        </p:nvSpPr>
        <p:spPr>
          <a:xfrm>
            <a:off x="242088" y="1556888"/>
            <a:ext cx="8367220" cy="1542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200" dirty="0" err="1"/>
              <a:t>Algoritma</a:t>
            </a:r>
            <a:r>
              <a:rPr lang="en-US" sz="1200" dirty="0"/>
              <a:t> Advance Hill Cipher </a:t>
            </a:r>
            <a:r>
              <a:rPr lang="en-US" sz="1200" dirty="0" err="1"/>
              <a:t>diusulkan</a:t>
            </a:r>
            <a:r>
              <a:rPr lang="en-US" sz="1200" dirty="0"/>
              <a:t> Acharya,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mengklain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Advance Hill Cipher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aman</a:t>
            </a:r>
            <a:r>
              <a:rPr lang="en-US" sz="1200" dirty="0"/>
              <a:t>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Hill Cipher </a:t>
            </a:r>
            <a:r>
              <a:rPr lang="en-US" sz="1200" dirty="0" err="1"/>
              <a:t>asli</a:t>
            </a:r>
            <a:r>
              <a:rPr lang="en-US" sz="1200" dirty="0"/>
              <a:t> (Acharya et al., 2009). Pada </a:t>
            </a:r>
            <a:r>
              <a:rPr lang="en-US" sz="1200" dirty="0" err="1"/>
              <a:t>kasus</a:t>
            </a:r>
            <a:r>
              <a:rPr lang="en-US" sz="1200" dirty="0"/>
              <a:t> </a:t>
            </a:r>
            <a:r>
              <a:rPr lang="en-US" sz="1200" dirty="0" err="1"/>
              <a:t>enkripsi</a:t>
            </a:r>
            <a:r>
              <a:rPr lang="en-US" sz="1200" dirty="0"/>
              <a:t>, </a:t>
            </a:r>
            <a:r>
              <a:rPr lang="en-US" sz="1200" dirty="0" err="1"/>
              <a:t>algoritma</a:t>
            </a:r>
            <a:r>
              <a:rPr lang="en-US" sz="1200" dirty="0"/>
              <a:t> Advance Hill Cipher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matriks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 </a:t>
            </a:r>
            <a:r>
              <a:rPr lang="en-US" sz="1200" dirty="0" err="1"/>
              <a:t>involutori</a:t>
            </a:r>
            <a:r>
              <a:rPr lang="en-US" sz="1200" dirty="0"/>
              <a:t>. </a:t>
            </a:r>
            <a:r>
              <a:rPr lang="en-US" sz="1200" dirty="0" err="1"/>
              <a:t>Suatu</a:t>
            </a:r>
            <a:r>
              <a:rPr lang="en-US" sz="1200" dirty="0"/>
              <a:t> </a:t>
            </a:r>
            <a:r>
              <a:rPr lang="en-US" sz="1200" dirty="0" err="1"/>
              <a:t>matriks</a:t>
            </a:r>
            <a:r>
              <a:rPr lang="en-US" sz="1200" dirty="0"/>
              <a:t> A </a:t>
            </a:r>
            <a:r>
              <a:rPr lang="en-US" sz="1200" dirty="0" err="1"/>
              <a:t>dikatakan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matrix </a:t>
            </a:r>
            <a:r>
              <a:rPr lang="en-US" sz="1200" dirty="0" err="1"/>
              <a:t>involutori</a:t>
            </a:r>
            <a:r>
              <a:rPr lang="en-US" sz="1200" dirty="0"/>
              <a:t>, </a:t>
            </a:r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matriks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inversnya</a:t>
            </a:r>
            <a:r>
              <a:rPr lang="en-US" sz="1200" dirty="0"/>
              <a:t>. </a:t>
            </a:r>
          </a:p>
          <a:p>
            <a:pPr marL="115888" indent="23813" algn="l"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3" name="Google Shape;250;p44">
            <a:extLst>
              <a:ext uri="{FF2B5EF4-FFF2-40B4-BE49-F238E27FC236}">
                <a16:creationId xmlns:a16="http://schemas.microsoft.com/office/drawing/2014/main" id="{06ED4192-99F6-C770-0612-4CE15A9BB9A7}"/>
              </a:ext>
            </a:extLst>
          </p:cNvPr>
          <p:cNvSpPr txBox="1">
            <a:spLocks/>
          </p:cNvSpPr>
          <p:nvPr/>
        </p:nvSpPr>
        <p:spPr>
          <a:xfrm>
            <a:off x="362265" y="1112927"/>
            <a:ext cx="2660335" cy="31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800" b="1" i="1" dirty="0"/>
              <a:t>Advance Hill Cipher</a:t>
            </a:r>
          </a:p>
        </p:txBody>
      </p:sp>
      <p:sp>
        <p:nvSpPr>
          <p:cNvPr id="5" name="Google Shape;185;p38">
            <a:extLst>
              <a:ext uri="{FF2B5EF4-FFF2-40B4-BE49-F238E27FC236}">
                <a16:creationId xmlns:a16="http://schemas.microsoft.com/office/drawing/2014/main" id="{D9C70B67-EE7F-24AB-5665-0FEA742AB74C}"/>
              </a:ext>
            </a:extLst>
          </p:cNvPr>
          <p:cNvSpPr/>
          <p:nvPr/>
        </p:nvSpPr>
        <p:spPr>
          <a:xfrm>
            <a:off x="459486" y="1404053"/>
            <a:ext cx="819150" cy="45719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187;p38">
            <a:extLst>
              <a:ext uri="{FF2B5EF4-FFF2-40B4-BE49-F238E27FC236}">
                <a16:creationId xmlns:a16="http://schemas.microsoft.com/office/drawing/2014/main" id="{4E52A393-4897-1771-2690-6DF72DD4B2B3}"/>
              </a:ext>
            </a:extLst>
          </p:cNvPr>
          <p:cNvSpPr txBox="1">
            <a:spLocks/>
          </p:cNvSpPr>
          <p:nvPr/>
        </p:nvSpPr>
        <p:spPr>
          <a:xfrm>
            <a:off x="242088" y="2707165"/>
            <a:ext cx="8367220" cy="52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200" dirty="0"/>
              <a:t>Perkalian </a:t>
            </a:r>
            <a:r>
              <a:rPr lang="en-US" sz="1200" dirty="0" err="1"/>
              <a:t>terhadap</a:t>
            </a:r>
            <a:r>
              <a:rPr lang="en-US" sz="1200" dirty="0"/>
              <a:t> </a:t>
            </a:r>
            <a:r>
              <a:rPr lang="en-US" sz="1200" dirty="0" err="1"/>
              <a:t>matriks</a:t>
            </a:r>
            <a:r>
              <a:rPr lang="en-US" sz="1200" dirty="0"/>
              <a:t> A </a:t>
            </a:r>
            <a:r>
              <a:rPr lang="en-US" sz="1200" dirty="0" err="1"/>
              <a:t>dikatakan</a:t>
            </a:r>
            <a:r>
              <a:rPr lang="en-US" sz="1200" dirty="0"/>
              <a:t> </a:t>
            </a:r>
            <a:r>
              <a:rPr lang="en-US" sz="1200" dirty="0" err="1"/>
              <a:t>involutori</a:t>
            </a:r>
            <a:r>
              <a:rPr lang="en-US" sz="1200" dirty="0"/>
              <a:t>, </a:t>
            </a:r>
            <a:r>
              <a:rPr lang="en-US" sz="1200" dirty="0" err="1"/>
              <a:t>jika</a:t>
            </a:r>
            <a:r>
              <a:rPr lang="en-US" sz="1200" dirty="0"/>
              <a:t>:</a:t>
            </a:r>
            <a:endParaRPr 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87;p38">
                <a:extLst>
                  <a:ext uri="{FF2B5EF4-FFF2-40B4-BE49-F238E27FC236}">
                    <a16:creationId xmlns:a16="http://schemas.microsoft.com/office/drawing/2014/main" id="{19898847-689B-F999-10AC-EB7C5ACE9C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9647" y="3480776"/>
                <a:ext cx="1152581" cy="521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u="sng" dirty="0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600" b="1" i="1" u="sng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600" b="1" i="1" u="sng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1600" b="1" i="1" u="sng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 u="sng" dirty="0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US" sz="1600" b="1" u="sng" dirty="0"/>
              </a:p>
            </p:txBody>
          </p:sp>
        </mc:Choice>
        <mc:Fallback xmlns="">
          <p:sp>
            <p:nvSpPr>
              <p:cNvPr id="9" name="Google Shape;187;p38">
                <a:extLst>
                  <a:ext uri="{FF2B5EF4-FFF2-40B4-BE49-F238E27FC236}">
                    <a16:creationId xmlns:a16="http://schemas.microsoft.com/office/drawing/2014/main" id="{19898847-689B-F999-10AC-EB7C5ACE9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647" y="3480776"/>
                <a:ext cx="1152581" cy="5212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187;p38">
                <a:extLst>
                  <a:ext uri="{FF2B5EF4-FFF2-40B4-BE49-F238E27FC236}">
                    <a16:creationId xmlns:a16="http://schemas.microsoft.com/office/drawing/2014/main" id="{0450F2D8-4994-8D26-DB95-45D0FDF198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03135" y="3049143"/>
                <a:ext cx="1137726" cy="521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Google Shape;187;p38">
                <a:extLst>
                  <a:ext uri="{FF2B5EF4-FFF2-40B4-BE49-F238E27FC236}">
                    <a16:creationId xmlns:a16="http://schemas.microsoft.com/office/drawing/2014/main" id="{0450F2D8-4994-8D26-DB95-45D0FDF19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135" y="3049143"/>
                <a:ext cx="1137726" cy="5212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786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F833350F-92CB-AB14-1B46-244DD841D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5A400AD5-332C-EF38-3B78-1188BB68C8EA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8" y="383255"/>
            <a:ext cx="425393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Tinjauan Pustaka [6]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8541C2C6-E8D4-325B-3D8C-A6A4EF96A6E7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C13A9CC7-F3DA-60F9-AC86-9AD3A9089B3F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B843CA33-293C-D3C0-276E-BC0F3A39ADDE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ECC45F7F-1917-CAEB-0E86-AF9E7287AFFF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4" name="Google Shape;187;p38">
            <a:extLst>
              <a:ext uri="{FF2B5EF4-FFF2-40B4-BE49-F238E27FC236}">
                <a16:creationId xmlns:a16="http://schemas.microsoft.com/office/drawing/2014/main" id="{6B45CC0C-E1B1-06EB-8411-2FB72663058C}"/>
              </a:ext>
            </a:extLst>
          </p:cNvPr>
          <p:cNvSpPr txBox="1">
            <a:spLocks/>
          </p:cNvSpPr>
          <p:nvPr/>
        </p:nvSpPr>
        <p:spPr>
          <a:xfrm>
            <a:off x="242088" y="1506717"/>
            <a:ext cx="8367220" cy="990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200" dirty="0" err="1"/>
              <a:t>Algoritma</a:t>
            </a:r>
            <a:r>
              <a:rPr lang="en-US" sz="1200" dirty="0"/>
              <a:t> ElGamal </a:t>
            </a:r>
            <a:r>
              <a:rPr lang="en-US" sz="1200" dirty="0" err="1"/>
              <a:t>termasuk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jenis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</a:t>
            </a:r>
            <a:r>
              <a:rPr lang="en-US" sz="1200" dirty="0" err="1"/>
              <a:t>kriptografi</a:t>
            </a:r>
            <a:r>
              <a:rPr lang="en-US" sz="1200" dirty="0"/>
              <a:t> </a:t>
            </a:r>
            <a:r>
              <a:rPr lang="en-US" sz="1200" dirty="0" err="1"/>
              <a:t>asimetris</a:t>
            </a:r>
            <a:r>
              <a:rPr lang="en-US" sz="1200" dirty="0"/>
              <a:t>. Dasar </a:t>
            </a:r>
            <a:r>
              <a:rPr lang="en-US" sz="1200" dirty="0" err="1"/>
              <a:t>keamanan</a:t>
            </a:r>
            <a:r>
              <a:rPr lang="en-US" sz="1200" dirty="0"/>
              <a:t> </a:t>
            </a:r>
            <a:r>
              <a:rPr lang="en-US" sz="1200" dirty="0" err="1"/>
              <a:t>algoritma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bertumpu</a:t>
            </a:r>
            <a:r>
              <a:rPr lang="en-US" sz="1200" dirty="0"/>
              <a:t> pada </a:t>
            </a:r>
            <a:r>
              <a:rPr lang="en-US" sz="1200" dirty="0" err="1"/>
              <a:t>permasalahan</a:t>
            </a:r>
            <a:r>
              <a:rPr lang="en-US" sz="1200" dirty="0"/>
              <a:t> </a:t>
            </a:r>
            <a:r>
              <a:rPr lang="en-US" sz="1200" dirty="0" err="1"/>
              <a:t>logaritma</a:t>
            </a:r>
            <a:r>
              <a:rPr lang="en-US" sz="1200" dirty="0"/>
              <a:t> </a:t>
            </a:r>
            <a:r>
              <a:rPr lang="en-US" sz="1200" dirty="0" err="1"/>
              <a:t>diskrit</a:t>
            </a:r>
            <a:r>
              <a:rPr lang="en-US" sz="1200" dirty="0"/>
              <a:t>. ElGamal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tiga</a:t>
            </a:r>
            <a:r>
              <a:rPr lang="en-US" sz="1200" dirty="0"/>
              <a:t> </a:t>
            </a:r>
            <a:r>
              <a:rPr lang="en-US" sz="1200" dirty="0" err="1"/>
              <a:t>tahapan</a:t>
            </a:r>
            <a:r>
              <a:rPr lang="en-US" sz="1200" dirty="0"/>
              <a:t> </a:t>
            </a:r>
            <a:r>
              <a:rPr lang="en-US" sz="1200" dirty="0" err="1"/>
              <a:t>utama</a:t>
            </a:r>
            <a:r>
              <a:rPr lang="en-US" sz="1200" dirty="0"/>
              <a:t>, </a:t>
            </a:r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en-US" sz="1200" dirty="0" err="1"/>
              <a:t>pembentukan</a:t>
            </a:r>
            <a:r>
              <a:rPr lang="en-US" sz="1200" dirty="0"/>
              <a:t> </a:t>
            </a:r>
            <a:r>
              <a:rPr lang="en-US" sz="1200" dirty="0" err="1"/>
              <a:t>kunci</a:t>
            </a:r>
            <a:r>
              <a:rPr lang="en-US" sz="1200" dirty="0"/>
              <a:t>, </a:t>
            </a:r>
            <a:r>
              <a:rPr lang="en-US" sz="1200" dirty="0" err="1"/>
              <a:t>enkripsi</a:t>
            </a:r>
            <a:r>
              <a:rPr lang="en-US" sz="1200" dirty="0"/>
              <a:t>, dan </a:t>
            </a:r>
            <a:r>
              <a:rPr lang="en-US" sz="1200" dirty="0" err="1"/>
              <a:t>dekripsi</a:t>
            </a:r>
            <a:r>
              <a:rPr lang="en-US" sz="1200" dirty="0"/>
              <a:t>. </a:t>
            </a:r>
          </a:p>
          <a:p>
            <a:pPr marL="115888" indent="23813" algn="l">
              <a:lnSpc>
                <a:spcPct val="150000"/>
              </a:lnSpc>
            </a:pPr>
            <a:endParaRPr lang="en-US" sz="1200" dirty="0"/>
          </a:p>
          <a:p>
            <a:pPr marL="115888" indent="23813" algn="l"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3" name="Google Shape;250;p44">
            <a:extLst>
              <a:ext uri="{FF2B5EF4-FFF2-40B4-BE49-F238E27FC236}">
                <a16:creationId xmlns:a16="http://schemas.microsoft.com/office/drawing/2014/main" id="{C8CF356A-ED58-6C26-3156-3773478125FD}"/>
              </a:ext>
            </a:extLst>
          </p:cNvPr>
          <p:cNvSpPr txBox="1">
            <a:spLocks/>
          </p:cNvSpPr>
          <p:nvPr/>
        </p:nvSpPr>
        <p:spPr>
          <a:xfrm>
            <a:off x="362265" y="1112927"/>
            <a:ext cx="2660335" cy="31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800" b="1" i="1" dirty="0"/>
              <a:t>ElGamal</a:t>
            </a:r>
          </a:p>
        </p:txBody>
      </p:sp>
      <p:sp>
        <p:nvSpPr>
          <p:cNvPr id="5" name="Google Shape;185;p38">
            <a:extLst>
              <a:ext uri="{FF2B5EF4-FFF2-40B4-BE49-F238E27FC236}">
                <a16:creationId xmlns:a16="http://schemas.microsoft.com/office/drawing/2014/main" id="{FBD3F736-2B5D-FF83-0C53-51FC7DAAF023}"/>
              </a:ext>
            </a:extLst>
          </p:cNvPr>
          <p:cNvSpPr/>
          <p:nvPr/>
        </p:nvSpPr>
        <p:spPr>
          <a:xfrm>
            <a:off x="459486" y="1404053"/>
            <a:ext cx="819150" cy="45719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187;p38">
            <a:extLst>
              <a:ext uri="{FF2B5EF4-FFF2-40B4-BE49-F238E27FC236}">
                <a16:creationId xmlns:a16="http://schemas.microsoft.com/office/drawing/2014/main" id="{40C4132A-B85F-4CE6-204F-7FC93AB5E95B}"/>
              </a:ext>
            </a:extLst>
          </p:cNvPr>
          <p:cNvSpPr txBox="1">
            <a:spLocks/>
          </p:cNvSpPr>
          <p:nvPr/>
        </p:nvSpPr>
        <p:spPr>
          <a:xfrm>
            <a:off x="242088" y="2336445"/>
            <a:ext cx="3066800" cy="435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b="1" dirty="0"/>
              <a:t>Proses </a:t>
            </a:r>
            <a:r>
              <a:rPr lang="en-US" b="1" dirty="0" err="1"/>
              <a:t>Pembentukan</a:t>
            </a:r>
            <a:r>
              <a:rPr lang="en-US" b="1" dirty="0"/>
              <a:t> </a:t>
            </a:r>
            <a:r>
              <a:rPr lang="en-US" b="1" dirty="0" err="1"/>
              <a:t>Kunci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187;p38">
                <a:extLst>
                  <a:ext uri="{FF2B5EF4-FFF2-40B4-BE49-F238E27FC236}">
                    <a16:creationId xmlns:a16="http://schemas.microsoft.com/office/drawing/2014/main" id="{6E92EB76-D443-8E01-22F0-DA9334CA9F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8068" y="2698750"/>
                <a:ext cx="7561012" cy="9905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:r>
                  <a:rPr lang="en-US" sz="1200" dirty="0" err="1"/>
                  <a:t>Algoritma</a:t>
                </a:r>
                <a:r>
                  <a:rPr lang="en-US" sz="1200" dirty="0"/>
                  <a:t> </a:t>
                </a:r>
                <a:r>
                  <a:rPr lang="en-US" sz="1200" i="1" dirty="0"/>
                  <a:t>ElGamal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memerlukan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sepasang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kunci</a:t>
                </a:r>
                <a:r>
                  <a:rPr lang="en-US" sz="1200" dirty="0"/>
                  <a:t> yang </a:t>
                </a:r>
                <a:r>
                  <a:rPr lang="en-US" sz="1200" dirty="0" err="1"/>
                  <a:t>dibentuk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melalui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penentuan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sebuah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bilangan</a:t>
                </a:r>
                <a:r>
                  <a:rPr lang="en-US" sz="1200" dirty="0"/>
                  <a:t> prima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 dan dua </a:t>
                </a:r>
                <a:r>
                  <a:rPr lang="en-US" sz="1200" dirty="0" err="1"/>
                  <a:t>bilangan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acak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1200" dirty="0"/>
                  <a:t> dan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. </a:t>
                </a:r>
                <a:r>
                  <a:rPr lang="en-US" sz="1200" dirty="0" err="1"/>
                  <a:t>Kedua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bilangan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acak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tersebut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harus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memenuhi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ketentuan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dan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1200" dirty="0"/>
                  <a:t>,  </a:t>
                </a:r>
              </a:p>
              <a:p>
                <a:pPr marL="115888" indent="23813" algn="l">
                  <a:lnSpc>
                    <a:spcPct val="150000"/>
                  </a:lnSpc>
                </a:pPr>
                <a:endParaRPr lang="en-US" sz="1200" dirty="0"/>
              </a:p>
              <a:p>
                <a:pPr marL="115888" indent="23813" algn="l">
                  <a:lnSpc>
                    <a:spcPct val="150000"/>
                  </a:lnSpc>
                </a:pPr>
                <a:endParaRPr lang="en-US" sz="1200" dirty="0"/>
              </a:p>
            </p:txBody>
          </p:sp>
        </mc:Choice>
        <mc:Fallback xmlns="">
          <p:sp>
            <p:nvSpPr>
              <p:cNvPr id="7" name="Google Shape;187;p38">
                <a:extLst>
                  <a:ext uri="{FF2B5EF4-FFF2-40B4-BE49-F238E27FC236}">
                    <a16:creationId xmlns:a16="http://schemas.microsoft.com/office/drawing/2014/main" id="{6E92EB76-D443-8E01-22F0-DA9334CA9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68" y="2698750"/>
                <a:ext cx="7561012" cy="9905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187;p38">
                <a:extLst>
                  <a:ext uri="{FF2B5EF4-FFF2-40B4-BE49-F238E27FC236}">
                    <a16:creationId xmlns:a16="http://schemas.microsoft.com/office/drawing/2014/main" id="{2EA22756-ED7C-F4E4-8CB7-2AF5632B7E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486" y="3805190"/>
                <a:ext cx="1475994" cy="466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" name="Google Shape;187;p38">
                <a:extLst>
                  <a:ext uri="{FF2B5EF4-FFF2-40B4-BE49-F238E27FC236}">
                    <a16:creationId xmlns:a16="http://schemas.microsoft.com/office/drawing/2014/main" id="{2EA22756-ED7C-F4E4-8CB7-2AF5632B7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86" y="3805190"/>
                <a:ext cx="1475994" cy="4664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87;p38">
            <a:extLst>
              <a:ext uri="{FF2B5EF4-FFF2-40B4-BE49-F238E27FC236}">
                <a16:creationId xmlns:a16="http://schemas.microsoft.com/office/drawing/2014/main" id="{42B0F224-2443-9E02-0587-2344A4929846}"/>
              </a:ext>
            </a:extLst>
          </p:cNvPr>
          <p:cNvSpPr txBox="1">
            <a:spLocks/>
          </p:cNvSpPr>
          <p:nvPr/>
        </p:nvSpPr>
        <p:spPr>
          <a:xfrm>
            <a:off x="3022600" y="3427388"/>
            <a:ext cx="7561012" cy="1426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sv-SE" sz="1200" dirty="0"/>
              <a:t>Keterangan:</a:t>
            </a:r>
          </a:p>
          <a:p>
            <a:pPr marL="115888" indent="23813" algn="l">
              <a:lnSpc>
                <a:spcPct val="150000"/>
              </a:lnSpc>
            </a:pPr>
            <a:r>
              <a:rPr lang="sv-SE" sz="1200" dirty="0"/>
              <a:t>y 	: kunci publik</a:t>
            </a:r>
          </a:p>
          <a:p>
            <a:pPr marL="115888" indent="23813" algn="l">
              <a:lnSpc>
                <a:spcPct val="150000"/>
              </a:lnSpc>
            </a:pPr>
            <a:r>
              <a:rPr lang="sv-SE" sz="1200" dirty="0"/>
              <a:t>g 	: generator (akar primitif dari bilangan prima)</a:t>
            </a:r>
          </a:p>
          <a:p>
            <a:pPr marL="115888" indent="23813" algn="l">
              <a:lnSpc>
                <a:spcPct val="150000"/>
              </a:lnSpc>
            </a:pPr>
            <a:r>
              <a:rPr lang="sv-SE" sz="1200" dirty="0"/>
              <a:t>p 	: bilangan prima</a:t>
            </a:r>
          </a:p>
          <a:p>
            <a:pPr marL="115888" indent="23813" algn="l">
              <a:lnSpc>
                <a:spcPct val="150000"/>
              </a:lnSpc>
            </a:pPr>
            <a:endParaRPr lang="en-US" sz="1200" dirty="0"/>
          </a:p>
          <a:p>
            <a:pPr marL="115888" indent="23813" algn="l">
              <a:lnSpc>
                <a:spcPct val="150000"/>
              </a:lnSpc>
            </a:pPr>
            <a:endParaRPr lang="en-US" sz="1200" dirty="0"/>
          </a:p>
          <a:p>
            <a:pPr marL="115888" indent="23813" algn="l">
              <a:lnSpc>
                <a:spcPct val="15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4603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C3E7A74C-CAE6-5A11-46D0-FDD00F667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20148210-8184-918B-3D86-84B10EA223F0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8" y="383255"/>
            <a:ext cx="425393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Tinjauan Pustaka [7]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69EE910B-725A-D6C9-26FB-B99E1646A0A7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56B4DE81-259D-7E4F-1075-222355CF6FA3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F9B39902-B53F-256F-41F1-88E68221C66C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2C218CFC-DCDC-C941-34EA-9E45787A2063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6" name="Google Shape;187;p38">
            <a:extLst>
              <a:ext uri="{FF2B5EF4-FFF2-40B4-BE49-F238E27FC236}">
                <a16:creationId xmlns:a16="http://schemas.microsoft.com/office/drawing/2014/main" id="{4494AA67-717B-AF53-9B91-1BC0B51EE95F}"/>
              </a:ext>
            </a:extLst>
          </p:cNvPr>
          <p:cNvSpPr txBox="1">
            <a:spLocks/>
          </p:cNvSpPr>
          <p:nvPr/>
        </p:nvSpPr>
        <p:spPr>
          <a:xfrm>
            <a:off x="242088" y="955955"/>
            <a:ext cx="3066800" cy="435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b="1" dirty="0"/>
              <a:t>Proses </a:t>
            </a:r>
            <a:r>
              <a:rPr lang="en-US" b="1" dirty="0" err="1"/>
              <a:t>Enkripsi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187;p38">
                <a:extLst>
                  <a:ext uri="{FF2B5EF4-FFF2-40B4-BE49-F238E27FC236}">
                    <a16:creationId xmlns:a16="http://schemas.microsoft.com/office/drawing/2014/main" id="{1644A3CC-7045-7A9E-C469-C8388389E4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9008" y="1444367"/>
                <a:ext cx="4513012" cy="9905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:r>
                  <a:rPr lang="en-US" sz="1200" dirty="0"/>
                  <a:t>Proses </a:t>
                </a:r>
                <a:r>
                  <a:rPr lang="en-US" sz="1200" dirty="0" err="1"/>
                  <a:t>enkripsi</a:t>
                </a:r>
                <a:r>
                  <a:rPr lang="en-US" sz="1200" dirty="0"/>
                  <a:t> pada </a:t>
                </a:r>
                <a:r>
                  <a:rPr lang="en-US" sz="1200" dirty="0" err="1"/>
                  <a:t>algoritma</a:t>
                </a:r>
                <a:r>
                  <a:rPr lang="en-US" sz="1200" dirty="0"/>
                  <a:t> </a:t>
                </a:r>
                <a:r>
                  <a:rPr lang="en-US" sz="1200" i="1" dirty="0"/>
                  <a:t>ElGamal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menggunakan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kunci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publik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serta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sebuah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bilangan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acak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200" dirty="0"/>
                  <a:t> yang </a:t>
                </a:r>
                <a:r>
                  <a:rPr lang="en-US" sz="1200" dirty="0" err="1"/>
                  <a:t>memenuhi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syarat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−2 </m:t>
                    </m:r>
                  </m:oMath>
                </a14:m>
                <a:endParaRPr lang="en-US" sz="1200" dirty="0"/>
              </a:p>
              <a:p>
                <a:pPr marL="115888" indent="23813" algn="l">
                  <a:lnSpc>
                    <a:spcPct val="150000"/>
                  </a:lnSpc>
                </a:pPr>
                <a:endParaRPr lang="en-US" sz="1200" dirty="0"/>
              </a:p>
              <a:p>
                <a:pPr marL="115888" indent="23813" algn="l">
                  <a:lnSpc>
                    <a:spcPct val="150000"/>
                  </a:lnSpc>
                </a:pPr>
                <a:endParaRPr lang="en-US" sz="1200" dirty="0"/>
              </a:p>
            </p:txBody>
          </p:sp>
        </mc:Choice>
        <mc:Fallback xmlns="">
          <p:sp>
            <p:nvSpPr>
              <p:cNvPr id="7" name="Google Shape;187;p38">
                <a:extLst>
                  <a:ext uri="{FF2B5EF4-FFF2-40B4-BE49-F238E27FC236}">
                    <a16:creationId xmlns:a16="http://schemas.microsoft.com/office/drawing/2014/main" id="{1644A3CC-7045-7A9E-C469-C8388389E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08" y="1444367"/>
                <a:ext cx="4513012" cy="9905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187;p38">
                <a:extLst>
                  <a:ext uri="{FF2B5EF4-FFF2-40B4-BE49-F238E27FC236}">
                    <a16:creationId xmlns:a16="http://schemas.microsoft.com/office/drawing/2014/main" id="{70B46E01-4F56-A7F5-DCB3-D7795798E4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552" y="3232247"/>
                <a:ext cx="4443447" cy="13123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:r>
                  <a:rPr lang="sv-SE" sz="1200" dirty="0"/>
                  <a:t>Keterangan: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sv-SE" sz="12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sv-SE" sz="1200" dirty="0"/>
                  <a:t> 	: </a:t>
                </a:r>
                <a:r>
                  <a:rPr lang="sv-SE" sz="1200" i="1" dirty="0"/>
                  <a:t>generator</a:t>
                </a:r>
                <a:r>
                  <a:rPr lang="sv-SE" sz="1200" dirty="0"/>
                  <a:t> (akar primitif dari bilangan prima).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sv-SE" sz="12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sv-SE" sz="1200" dirty="0"/>
                  <a:t>	: </a:t>
                </a:r>
                <a:r>
                  <a:rPr lang="sv-SE" sz="1200" i="1" dirty="0"/>
                  <a:t>Plaintext</a:t>
                </a:r>
                <a:r>
                  <a:rPr lang="sv-SE" sz="1200" dirty="0"/>
                  <a:t>.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sv-SE" sz="1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sv-SE" sz="1200" dirty="0"/>
                  <a:t>	: Bilangan prima.</a:t>
                </a:r>
                <a:endParaRPr lang="en-US" sz="1200" dirty="0"/>
              </a:p>
            </p:txBody>
          </p:sp>
        </mc:Choice>
        <mc:Fallback xmlns="">
          <p:sp>
            <p:nvSpPr>
              <p:cNvPr id="11" name="Google Shape;187;p38">
                <a:extLst>
                  <a:ext uri="{FF2B5EF4-FFF2-40B4-BE49-F238E27FC236}">
                    <a16:creationId xmlns:a16="http://schemas.microsoft.com/office/drawing/2014/main" id="{70B46E01-4F56-A7F5-DCB3-D7795798E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52" y="3232247"/>
                <a:ext cx="4443447" cy="13123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87;p38">
                <a:extLst>
                  <a:ext uri="{FF2B5EF4-FFF2-40B4-BE49-F238E27FC236}">
                    <a16:creationId xmlns:a16="http://schemas.microsoft.com/office/drawing/2014/main" id="{D02AC0FB-DFC8-826F-3D85-7710B9E302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1697" y="2409898"/>
                <a:ext cx="3789112" cy="9905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i="1" dirty="0"/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" name="Google Shape;187;p38">
                <a:extLst>
                  <a:ext uri="{FF2B5EF4-FFF2-40B4-BE49-F238E27FC236}">
                    <a16:creationId xmlns:a16="http://schemas.microsoft.com/office/drawing/2014/main" id="{D02AC0FB-DFC8-826F-3D85-7710B9E30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97" y="2409898"/>
                <a:ext cx="3789112" cy="9905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187;p38">
            <a:extLst>
              <a:ext uri="{FF2B5EF4-FFF2-40B4-BE49-F238E27FC236}">
                <a16:creationId xmlns:a16="http://schemas.microsoft.com/office/drawing/2014/main" id="{C24E66D9-9497-EC3A-A788-6AC1B7C06D1C}"/>
              </a:ext>
            </a:extLst>
          </p:cNvPr>
          <p:cNvSpPr txBox="1">
            <a:spLocks/>
          </p:cNvSpPr>
          <p:nvPr/>
        </p:nvSpPr>
        <p:spPr>
          <a:xfrm>
            <a:off x="4700553" y="932285"/>
            <a:ext cx="1661879" cy="435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b="1" dirty="0"/>
              <a:t>Proses </a:t>
            </a:r>
            <a:r>
              <a:rPr lang="en-US" b="1" dirty="0" err="1"/>
              <a:t>Dekripsi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187;p38">
                <a:extLst>
                  <a:ext uri="{FF2B5EF4-FFF2-40B4-BE49-F238E27FC236}">
                    <a16:creationId xmlns:a16="http://schemas.microsoft.com/office/drawing/2014/main" id="{ECF55C92-F934-DF78-0123-1957EF592D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32020" y="1298584"/>
                <a:ext cx="4411980" cy="9905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:r>
                  <a:rPr lang="en-US" sz="1200" dirty="0"/>
                  <a:t>Pada proses dekripsi digunakan sepasang kunci pribadi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200" dirty="0"/>
                  <a:t>untuk mendekripsi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menjadi plaintext dengan persamaan:</a:t>
                </a:r>
              </a:p>
              <a:p>
                <a:pPr marL="115888" indent="23813" algn="l">
                  <a:lnSpc>
                    <a:spcPct val="150000"/>
                  </a:lnSpc>
                </a:pPr>
                <a:endParaRPr lang="en-US" sz="1200" dirty="0"/>
              </a:p>
              <a:p>
                <a:pPr marL="115888" indent="23813" algn="l">
                  <a:lnSpc>
                    <a:spcPct val="150000"/>
                  </a:lnSpc>
                </a:pPr>
                <a:endParaRPr lang="en-US" sz="1200" dirty="0"/>
              </a:p>
            </p:txBody>
          </p:sp>
        </mc:Choice>
        <mc:Fallback xmlns="">
          <p:sp>
            <p:nvSpPr>
              <p:cNvPr id="13" name="Google Shape;187;p38">
                <a:extLst>
                  <a:ext uri="{FF2B5EF4-FFF2-40B4-BE49-F238E27FC236}">
                    <a16:creationId xmlns:a16="http://schemas.microsoft.com/office/drawing/2014/main" id="{ECF55C92-F934-DF78-0123-1957EF592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020" y="1298584"/>
                <a:ext cx="4411980" cy="9905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187;p38">
                <a:extLst>
                  <a:ext uri="{FF2B5EF4-FFF2-40B4-BE49-F238E27FC236}">
                    <a16:creationId xmlns:a16="http://schemas.microsoft.com/office/drawing/2014/main" id="{D09D43B0-D23B-A503-5664-1B96652F73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83193" y="2121092"/>
                <a:ext cx="3789112" cy="4199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Google Shape;187;p38">
                <a:extLst>
                  <a:ext uri="{FF2B5EF4-FFF2-40B4-BE49-F238E27FC236}">
                    <a16:creationId xmlns:a16="http://schemas.microsoft.com/office/drawing/2014/main" id="{D09D43B0-D23B-A503-5664-1B96652F7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193" y="2121092"/>
                <a:ext cx="3789112" cy="419946"/>
              </a:xfrm>
              <a:prstGeom prst="rect">
                <a:avLst/>
              </a:prstGeom>
              <a:blipFill>
                <a:blip r:embed="rId7"/>
                <a:stretch>
                  <a:fillRect b="-14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Google Shape;187;p38">
                <a:extLst>
                  <a:ext uri="{FF2B5EF4-FFF2-40B4-BE49-F238E27FC236}">
                    <a16:creationId xmlns:a16="http://schemas.microsoft.com/office/drawing/2014/main" id="{E31580B4-FE7F-D6C5-387F-BC93114475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15840" y="2557325"/>
                <a:ext cx="4411980" cy="6749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:r>
                  <a:rPr lang="en-US" sz="1200" dirty="0"/>
                  <a:t>Nilai </a:t>
                </a:r>
                <a:r>
                  <a:rPr lang="en-US" sz="1200" dirty="0" err="1"/>
                  <a:t>dari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variabel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didapat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dengan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menggunakan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persamaan</a:t>
                </a:r>
                <a:r>
                  <a:rPr lang="en-US" sz="1200" dirty="0"/>
                  <a:t>:</a:t>
                </a:r>
              </a:p>
              <a:p>
                <a:pPr marL="115888" indent="23813" algn="l">
                  <a:lnSpc>
                    <a:spcPct val="150000"/>
                  </a:lnSpc>
                </a:pPr>
                <a:endParaRPr lang="en-US" sz="1200" dirty="0"/>
              </a:p>
              <a:p>
                <a:pPr marL="115888" indent="23813" algn="l">
                  <a:lnSpc>
                    <a:spcPct val="150000"/>
                  </a:lnSpc>
                </a:pPr>
                <a:endParaRPr lang="en-US" sz="1200" dirty="0"/>
              </a:p>
            </p:txBody>
          </p:sp>
        </mc:Choice>
        <mc:Fallback xmlns="">
          <p:sp>
            <p:nvSpPr>
              <p:cNvPr id="17" name="Google Shape;187;p38">
                <a:extLst>
                  <a:ext uri="{FF2B5EF4-FFF2-40B4-BE49-F238E27FC236}">
                    <a16:creationId xmlns:a16="http://schemas.microsoft.com/office/drawing/2014/main" id="{E31580B4-FE7F-D6C5-387F-BC9311447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840" y="2557325"/>
                <a:ext cx="4411980" cy="674922"/>
              </a:xfrm>
              <a:prstGeom prst="rect">
                <a:avLst/>
              </a:prstGeom>
              <a:blipFill>
                <a:blip r:embed="rId8"/>
                <a:stretch>
                  <a:fillRect b="-45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Google Shape;187;p38">
                <a:extLst>
                  <a:ext uri="{FF2B5EF4-FFF2-40B4-BE49-F238E27FC236}">
                    <a16:creationId xmlns:a16="http://schemas.microsoft.com/office/drawing/2014/main" id="{9F9C6E94-A6B4-3889-22CF-22B335F79E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32024" y="3152327"/>
                <a:ext cx="3789112" cy="51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8" name="Google Shape;187;p38">
                <a:extLst>
                  <a:ext uri="{FF2B5EF4-FFF2-40B4-BE49-F238E27FC236}">
                    <a16:creationId xmlns:a16="http://schemas.microsoft.com/office/drawing/2014/main" id="{9F9C6E94-A6B4-3889-22CF-22B335F79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024" y="3152327"/>
                <a:ext cx="3789112" cy="5116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Google Shape;187;p38">
                <a:extLst>
                  <a:ext uri="{FF2B5EF4-FFF2-40B4-BE49-F238E27FC236}">
                    <a16:creationId xmlns:a16="http://schemas.microsoft.com/office/drawing/2014/main" id="{39BE98DC-C46E-2A83-2B45-490F745768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00553" y="3494981"/>
                <a:ext cx="4443447" cy="2895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:r>
                  <a:rPr lang="sv-SE" sz="1200" dirty="0"/>
                  <a:t>Keterangan: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sv-SE" sz="12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sv-SE" sz="1200" dirty="0"/>
                  <a:t>	: </a:t>
                </a:r>
                <a:r>
                  <a:rPr lang="sv-SE" sz="1200" i="1" dirty="0"/>
                  <a:t>Plaintext</a:t>
                </a:r>
                <a:r>
                  <a:rPr lang="sv-SE" sz="1200" dirty="0"/>
                  <a:t>.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sv-SE" sz="12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sv-SE" sz="1200" dirty="0"/>
                  <a:t>	: </a:t>
                </a:r>
                <a:r>
                  <a:rPr lang="sv-SE" sz="1200" i="1" dirty="0"/>
                  <a:t>Ciphertext</a:t>
                </a:r>
                <a:r>
                  <a:rPr lang="sv-SE" sz="1200" dirty="0"/>
                  <a:t>.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sv-SE" sz="1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sv-SE" sz="1200" dirty="0"/>
                  <a:t>	: Bilangan prima.</a:t>
                </a:r>
                <a:endParaRPr lang="en-US" sz="1200" dirty="0"/>
              </a:p>
            </p:txBody>
          </p:sp>
        </mc:Choice>
        <mc:Fallback xmlns="">
          <p:sp>
            <p:nvSpPr>
              <p:cNvPr id="19" name="Google Shape;187;p38">
                <a:extLst>
                  <a:ext uri="{FF2B5EF4-FFF2-40B4-BE49-F238E27FC236}">
                    <a16:creationId xmlns:a16="http://schemas.microsoft.com/office/drawing/2014/main" id="{39BE98DC-C46E-2A83-2B45-490F74576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553" y="3494981"/>
                <a:ext cx="4443447" cy="289561"/>
              </a:xfrm>
              <a:prstGeom prst="rect">
                <a:avLst/>
              </a:prstGeom>
              <a:blipFill>
                <a:blip r:embed="rId10"/>
                <a:stretch>
                  <a:fillRect b="-3291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937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54CB21D1-5909-C006-491A-C8A4B099E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52F0DA5C-B349-AE1F-3DD4-648919A42397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8" y="383255"/>
            <a:ext cx="425393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Tinjauan Pustaka [8]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D810FAC3-A0C2-0295-8123-A6D6BB1697AD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E0AD4D51-6D8D-9569-8634-5D95A5EE19AF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55278345-2FE4-3BA7-4C68-8F2ED6A773CA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9957FDAD-7A41-EBB7-C464-80090A0722F5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4" name="Google Shape;187;p38">
            <a:extLst>
              <a:ext uri="{FF2B5EF4-FFF2-40B4-BE49-F238E27FC236}">
                <a16:creationId xmlns:a16="http://schemas.microsoft.com/office/drawing/2014/main" id="{F97F1404-D64C-BB82-10E2-B79640A2FEED}"/>
              </a:ext>
            </a:extLst>
          </p:cNvPr>
          <p:cNvSpPr txBox="1">
            <a:spLocks/>
          </p:cNvSpPr>
          <p:nvPr/>
        </p:nvSpPr>
        <p:spPr>
          <a:xfrm>
            <a:off x="242088" y="1556888"/>
            <a:ext cx="8367220" cy="1542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200" dirty="0" err="1"/>
              <a:t>Metrik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menilai</a:t>
            </a:r>
            <a:r>
              <a:rPr lang="en-US" sz="1200" dirty="0"/>
              <a:t> </a:t>
            </a:r>
            <a:r>
              <a:rPr lang="en-US" sz="1200" dirty="0" err="1"/>
              <a:t>kualitas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membandingkan</a:t>
            </a:r>
            <a:r>
              <a:rPr lang="en-US" sz="1200" dirty="0"/>
              <a:t> </a:t>
            </a:r>
            <a:r>
              <a:rPr lang="en-US" sz="1200" dirty="0" err="1"/>
              <a:t>kekuatan</a:t>
            </a:r>
            <a:r>
              <a:rPr lang="en-US" sz="1200" dirty="0"/>
              <a:t> </a:t>
            </a:r>
            <a:r>
              <a:rPr lang="en-US" sz="1200" dirty="0" err="1"/>
              <a:t>sinyal</a:t>
            </a:r>
            <a:r>
              <a:rPr lang="en-US" sz="1200" dirty="0"/>
              <a:t> (</a:t>
            </a:r>
            <a:r>
              <a:rPr lang="en-US" sz="1200" dirty="0" err="1"/>
              <a:t>citra</a:t>
            </a:r>
            <a:r>
              <a:rPr lang="en-US" sz="1200" dirty="0"/>
              <a:t> </a:t>
            </a:r>
            <a:r>
              <a:rPr lang="en-US" sz="1200" dirty="0" err="1"/>
              <a:t>asli</a:t>
            </a:r>
            <a:r>
              <a:rPr lang="en-US" sz="1200" dirty="0"/>
              <a:t>) </a:t>
            </a:r>
            <a:r>
              <a:rPr lang="en-US" sz="1200" dirty="0" err="1"/>
              <a:t>terhadap</a:t>
            </a:r>
            <a:r>
              <a:rPr lang="en-US" sz="1200" dirty="0"/>
              <a:t> </a:t>
            </a:r>
            <a:r>
              <a:rPr lang="en-US" sz="1200" dirty="0" err="1"/>
              <a:t>kekuatan</a:t>
            </a:r>
            <a:r>
              <a:rPr lang="en-US" sz="1200" dirty="0"/>
              <a:t> </a:t>
            </a:r>
            <a:r>
              <a:rPr lang="en-US" sz="1200" dirty="0" err="1"/>
              <a:t>derau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noise (</a:t>
            </a:r>
            <a:r>
              <a:rPr lang="en-US" sz="1200" dirty="0" err="1"/>
              <a:t>gangguan</a:t>
            </a:r>
            <a:r>
              <a:rPr lang="en-US" sz="1200" dirty="0"/>
              <a:t> yang </a:t>
            </a:r>
            <a:r>
              <a:rPr lang="en-US" sz="1200" dirty="0" err="1"/>
              <a:t>menurunkan</a:t>
            </a:r>
            <a:r>
              <a:rPr lang="en-US" sz="1200" dirty="0"/>
              <a:t> </a:t>
            </a:r>
            <a:r>
              <a:rPr lang="en-US" sz="1200" dirty="0" err="1"/>
              <a:t>kualitas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).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8-bit, </a:t>
            </a:r>
            <a:r>
              <a:rPr lang="en-US" sz="1200" dirty="0" err="1"/>
              <a:t>nilai</a:t>
            </a:r>
            <a:r>
              <a:rPr lang="en-US" sz="1200" dirty="0"/>
              <a:t> PSNR yang </a:t>
            </a:r>
            <a:r>
              <a:rPr lang="en-US" sz="1200" dirty="0" err="1"/>
              <a:t>dianggap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pada </a:t>
            </a:r>
            <a:r>
              <a:rPr lang="en-US" sz="1200" dirty="0" err="1"/>
              <a:t>kisaran</a:t>
            </a:r>
            <a:r>
              <a:rPr lang="en-US" sz="1200" dirty="0"/>
              <a:t> 30 </a:t>
            </a:r>
            <a:r>
              <a:rPr lang="en-US" sz="1200" dirty="0" err="1"/>
              <a:t>hingga</a:t>
            </a:r>
            <a:r>
              <a:rPr lang="en-US" sz="1200" dirty="0"/>
              <a:t> 50 </a:t>
            </a:r>
            <a:r>
              <a:rPr lang="en-US" sz="1200" dirty="0" err="1"/>
              <a:t>dB.</a:t>
            </a:r>
            <a:r>
              <a:rPr lang="en-US" sz="1200" dirty="0"/>
              <a:t> </a:t>
            </a:r>
            <a:r>
              <a:rPr lang="en-US" sz="1200" dirty="0" err="1"/>
              <a:t>Sedangkan</a:t>
            </a:r>
            <a:r>
              <a:rPr lang="en-US" sz="1200" dirty="0"/>
              <a:t> pada </a:t>
            </a:r>
            <a:r>
              <a:rPr lang="en-US" sz="1200" dirty="0" err="1"/>
              <a:t>citra</a:t>
            </a:r>
            <a:r>
              <a:rPr lang="en-US" sz="1200" dirty="0"/>
              <a:t> 16-bit yang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kualitas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, </a:t>
            </a:r>
            <a:r>
              <a:rPr lang="en-US" sz="1200" dirty="0" err="1"/>
              <a:t>nilai</a:t>
            </a:r>
            <a:r>
              <a:rPr lang="en-US" sz="1200" dirty="0"/>
              <a:t> PSNR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rentang</a:t>
            </a:r>
            <a:r>
              <a:rPr lang="en-US" sz="1200" dirty="0"/>
              <a:t> 60 </a:t>
            </a:r>
            <a:r>
              <a:rPr lang="en-US" sz="1200" dirty="0" err="1"/>
              <a:t>hingga</a:t>
            </a:r>
            <a:r>
              <a:rPr lang="en-US" sz="1200" dirty="0"/>
              <a:t> 80 dB</a:t>
            </a:r>
          </a:p>
        </p:txBody>
      </p:sp>
      <p:sp>
        <p:nvSpPr>
          <p:cNvPr id="3" name="Google Shape;250;p44">
            <a:extLst>
              <a:ext uri="{FF2B5EF4-FFF2-40B4-BE49-F238E27FC236}">
                <a16:creationId xmlns:a16="http://schemas.microsoft.com/office/drawing/2014/main" id="{EF5BD745-671A-4655-82F6-D3154D8A98F4}"/>
              </a:ext>
            </a:extLst>
          </p:cNvPr>
          <p:cNvSpPr txBox="1">
            <a:spLocks/>
          </p:cNvSpPr>
          <p:nvPr/>
        </p:nvSpPr>
        <p:spPr>
          <a:xfrm>
            <a:off x="362265" y="1112927"/>
            <a:ext cx="5635579" cy="31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800" b="1" i="1" dirty="0"/>
              <a:t>Peak Signal-to-Noise Ratio (PSNR)</a:t>
            </a:r>
          </a:p>
        </p:txBody>
      </p:sp>
      <p:sp>
        <p:nvSpPr>
          <p:cNvPr id="5" name="Google Shape;185;p38">
            <a:extLst>
              <a:ext uri="{FF2B5EF4-FFF2-40B4-BE49-F238E27FC236}">
                <a16:creationId xmlns:a16="http://schemas.microsoft.com/office/drawing/2014/main" id="{6FE6E920-4263-F84F-FF3D-A7BF1BC0697A}"/>
              </a:ext>
            </a:extLst>
          </p:cNvPr>
          <p:cNvSpPr/>
          <p:nvPr/>
        </p:nvSpPr>
        <p:spPr>
          <a:xfrm>
            <a:off x="459486" y="1404053"/>
            <a:ext cx="819150" cy="45719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87;p38">
                <a:extLst>
                  <a:ext uri="{FF2B5EF4-FFF2-40B4-BE49-F238E27FC236}">
                    <a16:creationId xmlns:a16="http://schemas.microsoft.com/office/drawing/2014/main" id="{B7FC65E7-5002-ED71-4ACA-BFB87CE2D9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8389" y="2761408"/>
                <a:ext cx="8367220" cy="8833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𝑃𝑆𝑁𝑅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𝑝𝑒𝑎𝑘𝑣𝑎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𝑀𝑆𝐸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Google Shape;187;p38">
                <a:extLst>
                  <a:ext uri="{FF2B5EF4-FFF2-40B4-BE49-F238E27FC236}">
                    <a16:creationId xmlns:a16="http://schemas.microsoft.com/office/drawing/2014/main" id="{B7FC65E7-5002-ED71-4ACA-BFB87CE2D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89" y="2761408"/>
                <a:ext cx="8367220" cy="8833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187;p38">
            <a:extLst>
              <a:ext uri="{FF2B5EF4-FFF2-40B4-BE49-F238E27FC236}">
                <a16:creationId xmlns:a16="http://schemas.microsoft.com/office/drawing/2014/main" id="{D49E5FF5-CF36-F1A0-FF47-A66A5959EE99}"/>
              </a:ext>
            </a:extLst>
          </p:cNvPr>
          <p:cNvSpPr txBox="1">
            <a:spLocks/>
          </p:cNvSpPr>
          <p:nvPr/>
        </p:nvSpPr>
        <p:spPr>
          <a:xfrm>
            <a:off x="242088" y="3462271"/>
            <a:ext cx="8367220" cy="1542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200" dirty="0" err="1"/>
              <a:t>Keterangan</a:t>
            </a:r>
            <a:r>
              <a:rPr lang="en-US" sz="1200" dirty="0"/>
              <a:t>:</a:t>
            </a:r>
          </a:p>
          <a:p>
            <a:pPr marL="115888" indent="23813" algn="l">
              <a:lnSpc>
                <a:spcPct val="150000"/>
              </a:lnSpc>
            </a:pPr>
            <a:r>
              <a:rPr lang="en-US" sz="1200" i="1" dirty="0" err="1"/>
              <a:t>peakval</a:t>
            </a:r>
            <a:r>
              <a:rPr lang="en-US" sz="1200" dirty="0"/>
              <a:t>	: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piksel</a:t>
            </a:r>
            <a:r>
              <a:rPr lang="en-US" sz="1200" dirty="0"/>
              <a:t> </a:t>
            </a:r>
            <a:r>
              <a:rPr lang="en-US" sz="1200" dirty="0" err="1"/>
              <a:t>maksimum</a:t>
            </a:r>
            <a:endParaRPr lang="en-US" sz="1200" dirty="0"/>
          </a:p>
          <a:p>
            <a:pPr marL="115888" indent="23813" algn="l">
              <a:lnSpc>
                <a:spcPct val="150000"/>
              </a:lnSpc>
            </a:pPr>
            <a:r>
              <a:rPr lang="en-US" sz="1200" i="1" dirty="0"/>
              <a:t>MSE</a:t>
            </a:r>
            <a:r>
              <a:rPr lang="en-US" sz="1200" dirty="0"/>
              <a:t>	: </a:t>
            </a:r>
            <a:r>
              <a:rPr lang="en-US" sz="1200" i="1" dirty="0"/>
              <a:t>mean squared error</a:t>
            </a:r>
          </a:p>
          <a:p>
            <a:pPr marL="115888" indent="23813" algn="l">
              <a:lnSpc>
                <a:spcPct val="15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79171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33095DF9-2700-1825-4B41-AF7763DD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487B6C63-DD8B-DABD-FCC3-08ED2833CA6C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8" y="383255"/>
            <a:ext cx="425393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Tinjauan Pustaka [9]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75069264-58EB-7D8E-C8A5-CB0E840ACE78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B5D4E63F-F2A3-44A1-A028-7796AD62D157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AC5E2CD6-A1AD-726E-5C08-5552D80A8A49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0F4F6BAF-DE0F-2802-7335-7A7F45CA8651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4" name="Google Shape;187;p38">
            <a:extLst>
              <a:ext uri="{FF2B5EF4-FFF2-40B4-BE49-F238E27FC236}">
                <a16:creationId xmlns:a16="http://schemas.microsoft.com/office/drawing/2014/main" id="{F6D59627-D848-3EFE-BDDD-E5EBFE4233BE}"/>
              </a:ext>
            </a:extLst>
          </p:cNvPr>
          <p:cNvSpPr txBox="1">
            <a:spLocks/>
          </p:cNvSpPr>
          <p:nvPr/>
        </p:nvSpPr>
        <p:spPr>
          <a:xfrm>
            <a:off x="242088" y="1556888"/>
            <a:ext cx="8367220" cy="1542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200" dirty="0"/>
              <a:t>SSIM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kualitas</a:t>
            </a:r>
            <a:r>
              <a:rPr lang="en-US" sz="1200" dirty="0"/>
              <a:t> metric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 </a:t>
            </a:r>
            <a:r>
              <a:rPr lang="en-US" sz="1200" dirty="0" err="1"/>
              <a:t>kemiripan</a:t>
            </a:r>
            <a:r>
              <a:rPr lang="en-US" sz="1200" dirty="0"/>
              <a:t> </a:t>
            </a:r>
            <a:r>
              <a:rPr lang="en-US" sz="1200" dirty="0" err="1"/>
              <a:t>diantara</a:t>
            </a:r>
            <a:r>
              <a:rPr lang="en-US" sz="1200" dirty="0"/>
              <a:t> 2 </a:t>
            </a:r>
            <a:r>
              <a:rPr lang="en-US" sz="1200" dirty="0" err="1"/>
              <a:t>citra</a:t>
            </a:r>
            <a:r>
              <a:rPr lang="en-US" sz="1200" dirty="0"/>
              <a:t> dan </a:t>
            </a:r>
            <a:r>
              <a:rPr lang="en-US" sz="1200" dirty="0" err="1"/>
              <a:t>dipercaya</a:t>
            </a:r>
            <a:r>
              <a:rPr lang="en-US" sz="1200" dirty="0"/>
              <a:t> </a:t>
            </a:r>
            <a:r>
              <a:rPr lang="en-US" sz="1200" dirty="0" err="1"/>
              <a:t>berkorelasi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kualitas</a:t>
            </a:r>
            <a:r>
              <a:rPr lang="en-US" sz="1200" dirty="0"/>
              <a:t> </a:t>
            </a:r>
            <a:r>
              <a:rPr lang="en-US" sz="1200" dirty="0" err="1"/>
              <a:t>persepsi</a:t>
            </a:r>
            <a:r>
              <a:rPr lang="en-US" sz="1200" dirty="0"/>
              <a:t>  Human Visual System (HVS).</a:t>
            </a:r>
          </a:p>
        </p:txBody>
      </p:sp>
      <p:sp>
        <p:nvSpPr>
          <p:cNvPr id="3" name="Google Shape;250;p44">
            <a:extLst>
              <a:ext uri="{FF2B5EF4-FFF2-40B4-BE49-F238E27FC236}">
                <a16:creationId xmlns:a16="http://schemas.microsoft.com/office/drawing/2014/main" id="{68E721FC-A7DE-F604-1F3C-BA60EC630C7B}"/>
              </a:ext>
            </a:extLst>
          </p:cNvPr>
          <p:cNvSpPr txBox="1">
            <a:spLocks/>
          </p:cNvSpPr>
          <p:nvPr/>
        </p:nvSpPr>
        <p:spPr>
          <a:xfrm>
            <a:off x="362265" y="1112927"/>
            <a:ext cx="5635579" cy="31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800" b="1" i="1" dirty="0"/>
              <a:t>Structural Similarity Index Measure (SSIM) </a:t>
            </a:r>
          </a:p>
        </p:txBody>
      </p:sp>
      <p:sp>
        <p:nvSpPr>
          <p:cNvPr id="5" name="Google Shape;185;p38">
            <a:extLst>
              <a:ext uri="{FF2B5EF4-FFF2-40B4-BE49-F238E27FC236}">
                <a16:creationId xmlns:a16="http://schemas.microsoft.com/office/drawing/2014/main" id="{A466E914-EF94-8B88-0F9F-B0F4FD49A062}"/>
              </a:ext>
            </a:extLst>
          </p:cNvPr>
          <p:cNvSpPr/>
          <p:nvPr/>
        </p:nvSpPr>
        <p:spPr>
          <a:xfrm>
            <a:off x="459486" y="1404053"/>
            <a:ext cx="819150" cy="45719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87;p38">
                <a:extLst>
                  <a:ext uri="{FF2B5EF4-FFF2-40B4-BE49-F238E27FC236}">
                    <a16:creationId xmlns:a16="http://schemas.microsoft.com/office/drawing/2014/main" id="{CBFB09BA-0AA5-F678-771E-BB34A1AFE7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8389" y="2395933"/>
                <a:ext cx="3013489" cy="2895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𝑆𝑆𝐼𝑀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Google Shape;187;p38">
                <a:extLst>
                  <a:ext uri="{FF2B5EF4-FFF2-40B4-BE49-F238E27FC236}">
                    <a16:creationId xmlns:a16="http://schemas.microsoft.com/office/drawing/2014/main" id="{CBFB09BA-0AA5-F678-771E-BB34A1AFE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89" y="2395933"/>
                <a:ext cx="3013489" cy="289561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187;p38">
                <a:extLst>
                  <a:ext uri="{FF2B5EF4-FFF2-40B4-BE49-F238E27FC236}">
                    <a16:creationId xmlns:a16="http://schemas.microsoft.com/office/drawing/2014/main" id="{6F463408-FC6C-DF67-A470-8635C01B75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2088" y="2843383"/>
                <a:ext cx="6079464" cy="15427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:r>
                  <a:rPr lang="en-US" sz="1200" dirty="0"/>
                  <a:t>Keterangan: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200" dirty="0"/>
                  <a:t>	: nilai rata-rata luminansi dari dua citra, yaitu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it-IT" sz="12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it-IT" sz="1200" dirty="0"/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it-IT" sz="12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: </a:t>
                </a:r>
                <a:r>
                  <a:rPr lang="en-US" sz="1200" dirty="0" err="1"/>
                  <a:t>kesamaan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nilai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simpangan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baku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dari</a:t>
                </a:r>
                <a:r>
                  <a:rPr lang="en-US" sz="1200" dirty="0"/>
                  <a:t> dua </a:t>
                </a:r>
                <a:r>
                  <a:rPr lang="en-US" sz="1200" dirty="0" err="1"/>
                  <a:t>citra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yakni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2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2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	: </a:t>
                </a:r>
                <a:r>
                  <a:rPr lang="en-US" sz="1200" dirty="0" err="1"/>
                  <a:t>tingkat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korelasi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antara</a:t>
                </a:r>
                <a:r>
                  <a:rPr lang="en-US" sz="1200" dirty="0"/>
                  <a:t> dua </a:t>
                </a:r>
                <a:r>
                  <a:rPr lang="en-US" sz="1200" dirty="0" err="1"/>
                  <a:t>citra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200" dirty="0"/>
                  <a:t> dan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1200" dirty="0"/>
                  <a:t>, </a:t>
                </a:r>
                <a:r>
                  <a:rPr lang="en-US" sz="1200" dirty="0" err="1"/>
                  <a:t>dengan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2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200" i="1" dirty="0" err="1" smtClean="0">
                            <a:latin typeface="Cambria Math" panose="02040503050406030204" pitchFamily="18" charset="0"/>
                          </a:rPr>
                          <m:t>𝑓𝑔</m:t>
                        </m:r>
                      </m:sub>
                    </m:sSub>
                  </m:oMath>
                </a14:m>
                <a:r>
                  <a:rPr lang="en-US" sz="1200" dirty="0"/>
                  <a:t> </a:t>
                </a:r>
              </a:p>
            </p:txBody>
          </p:sp>
        </mc:Choice>
        <mc:Fallback xmlns="">
          <p:sp>
            <p:nvSpPr>
              <p:cNvPr id="10" name="Google Shape;187;p38">
                <a:extLst>
                  <a:ext uri="{FF2B5EF4-FFF2-40B4-BE49-F238E27FC236}">
                    <a16:creationId xmlns:a16="http://schemas.microsoft.com/office/drawing/2014/main" id="{6F463408-FC6C-DF67-A470-8635C01B7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88" y="2843383"/>
                <a:ext cx="6079464" cy="15427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187;p38">
                <a:extLst>
                  <a:ext uri="{FF2B5EF4-FFF2-40B4-BE49-F238E27FC236}">
                    <a16:creationId xmlns:a16="http://schemas.microsoft.com/office/drawing/2014/main" id="{2882D0A2-E96D-160D-9BC8-763866A438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90033" y="2334578"/>
                <a:ext cx="2944368" cy="17072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d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  <m:sup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  <m:sup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d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  <m:sup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  <m:sup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d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𝑓𝑔</m:t>
                                      </m:r>
                                    </m:sub>
                                  </m:sSub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Google Shape;187;p38">
                <a:extLst>
                  <a:ext uri="{FF2B5EF4-FFF2-40B4-BE49-F238E27FC236}">
                    <a16:creationId xmlns:a16="http://schemas.microsoft.com/office/drawing/2014/main" id="{2882D0A2-E96D-160D-9BC8-763866A43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033" y="2334578"/>
                <a:ext cx="2944368" cy="17072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447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4CA2B81D-3430-ECFA-EAD9-6CAF30526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8E6B9C2C-337B-5963-A6A1-BF80663B0BC2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8" y="383255"/>
            <a:ext cx="425393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Tinjauan Pustaka [10]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F3D69078-3175-E185-AEDF-9EA97D201B6C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6BEEC7CC-C525-E22B-BAC7-7FF51154FA06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7BE28977-1B1F-37E0-DFA9-8E007E6A275D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F277DA62-C197-74DE-FA4A-FADEB2667D83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4" name="Google Shape;187;p38">
            <a:extLst>
              <a:ext uri="{FF2B5EF4-FFF2-40B4-BE49-F238E27FC236}">
                <a16:creationId xmlns:a16="http://schemas.microsoft.com/office/drawing/2014/main" id="{501E0A8F-0FF0-6153-ED07-BC68038849B7}"/>
              </a:ext>
            </a:extLst>
          </p:cNvPr>
          <p:cNvSpPr txBox="1">
            <a:spLocks/>
          </p:cNvSpPr>
          <p:nvPr/>
        </p:nvSpPr>
        <p:spPr>
          <a:xfrm>
            <a:off x="242088" y="1556888"/>
            <a:ext cx="8367220" cy="74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200" i="1" dirty="0"/>
              <a:t>Mean Squared Error </a:t>
            </a:r>
            <a:r>
              <a:rPr lang="en-US" sz="1200" dirty="0"/>
              <a:t>(MSE)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mengukur</a:t>
            </a:r>
            <a:r>
              <a:rPr lang="en-US" sz="1200" dirty="0"/>
              <a:t> </a:t>
            </a:r>
            <a:r>
              <a:rPr lang="en-US" sz="1200" dirty="0" err="1"/>
              <a:t>tingkat</a:t>
            </a:r>
            <a:r>
              <a:rPr lang="en-US" sz="1200" dirty="0"/>
              <a:t> </a:t>
            </a:r>
            <a:r>
              <a:rPr lang="en-US" sz="1200" dirty="0" err="1"/>
              <a:t>distorsi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 dua </a:t>
            </a:r>
            <a:r>
              <a:rPr lang="en-US" sz="1200" dirty="0" err="1"/>
              <a:t>citra</a:t>
            </a:r>
            <a:r>
              <a:rPr lang="en-US" sz="1200" dirty="0"/>
              <a:t>, </a:t>
            </a:r>
            <a:r>
              <a:rPr lang="en-US" sz="1200" dirty="0" err="1"/>
              <a:t>yakni</a:t>
            </a:r>
            <a:r>
              <a:rPr lang="en-US" sz="1200" dirty="0"/>
              <a:t> </a:t>
            </a:r>
            <a:r>
              <a:rPr lang="en-US" sz="1200" dirty="0" err="1"/>
              <a:t>citra</a:t>
            </a:r>
            <a:r>
              <a:rPr lang="en-US" sz="1200" dirty="0"/>
              <a:t> </a:t>
            </a:r>
            <a:r>
              <a:rPr lang="en-US" sz="1200" dirty="0" err="1"/>
              <a:t>asli</a:t>
            </a:r>
            <a:r>
              <a:rPr lang="en-US" sz="1200" dirty="0"/>
              <a:t> dan </a:t>
            </a:r>
            <a:r>
              <a:rPr lang="en-US" sz="1200" dirty="0" err="1"/>
              <a:t>citra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</a:t>
            </a:r>
            <a:r>
              <a:rPr lang="en-US" sz="1200" dirty="0" err="1"/>
              <a:t>transformasi</a:t>
            </a:r>
            <a:r>
              <a:rPr lang="en-US" sz="1200" dirty="0"/>
              <a:t>, </a:t>
            </a:r>
            <a:r>
              <a:rPr lang="en-US" sz="1200" dirty="0" err="1"/>
              <a:t>baik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</a:t>
            </a:r>
            <a:r>
              <a:rPr lang="en-US" sz="1200" dirty="0" err="1"/>
              <a:t>enkripsi</a:t>
            </a:r>
            <a:r>
              <a:rPr lang="en-US" sz="1200" dirty="0"/>
              <a:t> </a:t>
            </a:r>
            <a:r>
              <a:rPr lang="en-US" sz="1200" dirty="0" err="1"/>
              <a:t>maupun</a:t>
            </a:r>
            <a:r>
              <a:rPr lang="en-US" sz="1200" dirty="0"/>
              <a:t> </a:t>
            </a:r>
            <a:r>
              <a:rPr lang="en-US" sz="1200" dirty="0" err="1"/>
              <a:t>dekripsi</a:t>
            </a:r>
            <a:r>
              <a:rPr lang="en-US" sz="1200" dirty="0"/>
              <a:t>.</a:t>
            </a:r>
          </a:p>
        </p:txBody>
      </p:sp>
      <p:sp>
        <p:nvSpPr>
          <p:cNvPr id="3" name="Google Shape;250;p44">
            <a:extLst>
              <a:ext uri="{FF2B5EF4-FFF2-40B4-BE49-F238E27FC236}">
                <a16:creationId xmlns:a16="http://schemas.microsoft.com/office/drawing/2014/main" id="{E1283B4D-10E7-FF6F-CC16-4DD0A70C0BE9}"/>
              </a:ext>
            </a:extLst>
          </p:cNvPr>
          <p:cNvSpPr txBox="1">
            <a:spLocks/>
          </p:cNvSpPr>
          <p:nvPr/>
        </p:nvSpPr>
        <p:spPr>
          <a:xfrm>
            <a:off x="362265" y="1112927"/>
            <a:ext cx="5635579" cy="31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800" b="1" i="1" dirty="0"/>
              <a:t>Mean Square Error (MSE)</a:t>
            </a:r>
          </a:p>
        </p:txBody>
      </p:sp>
      <p:sp>
        <p:nvSpPr>
          <p:cNvPr id="5" name="Google Shape;185;p38">
            <a:extLst>
              <a:ext uri="{FF2B5EF4-FFF2-40B4-BE49-F238E27FC236}">
                <a16:creationId xmlns:a16="http://schemas.microsoft.com/office/drawing/2014/main" id="{EC5A95AF-DD8A-D885-1481-C5F4DA93AD83}"/>
              </a:ext>
            </a:extLst>
          </p:cNvPr>
          <p:cNvSpPr/>
          <p:nvPr/>
        </p:nvSpPr>
        <p:spPr>
          <a:xfrm>
            <a:off x="457581" y="1405241"/>
            <a:ext cx="819150" cy="45719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187;p38">
                <a:extLst>
                  <a:ext uri="{FF2B5EF4-FFF2-40B4-BE49-F238E27FC236}">
                    <a16:creationId xmlns:a16="http://schemas.microsoft.com/office/drawing/2014/main" id="{3907DF11-BF7D-7704-F390-505FA7DC44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2088" y="3071560"/>
                <a:ext cx="8367220" cy="15427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:r>
                  <a:rPr lang="en-US" sz="1200" dirty="0"/>
                  <a:t>Keterangan: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: </a:t>
                </a:r>
                <a:r>
                  <a:rPr lang="en-US" sz="1200" dirty="0" err="1"/>
                  <a:t>nilai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intensitas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piksel</a:t>
                </a:r>
                <a:r>
                  <a:rPr lang="en-US" sz="1200" dirty="0"/>
                  <a:t> pada </a:t>
                </a:r>
                <a:r>
                  <a:rPr lang="en-US" sz="1200" dirty="0" err="1"/>
                  <a:t>koordinat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dari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citra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asli</a:t>
                </a:r>
                <a:r>
                  <a:rPr lang="en-US" sz="1200" dirty="0"/>
                  <a:t>.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: </a:t>
                </a:r>
                <a:r>
                  <a:rPr lang="en-US" sz="1200" dirty="0" err="1"/>
                  <a:t>nilai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intensitas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piksel</a:t>
                </a:r>
                <a:r>
                  <a:rPr lang="en-US" sz="1200" dirty="0"/>
                  <a:t> pada </a:t>
                </a:r>
                <a:r>
                  <a:rPr lang="en-US" sz="1200" dirty="0" err="1"/>
                  <a:t>koordinat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 err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dari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citra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hasil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dekripsi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atau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enkripsi</a:t>
                </a:r>
                <a:r>
                  <a:rPr lang="en-US" sz="1200" dirty="0"/>
                  <a:t>.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/>
                  <a:t> 	: </a:t>
                </a:r>
                <a:r>
                  <a:rPr lang="en-US" sz="1200" dirty="0" err="1"/>
                  <a:t>jumlah</a:t>
                </a:r>
                <a:r>
                  <a:rPr lang="en-US" sz="1200" dirty="0"/>
                  <a:t> baris </a:t>
                </a:r>
                <a:r>
                  <a:rPr lang="en-US" sz="1200" dirty="0" err="1"/>
                  <a:t>dari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citra</a:t>
                </a:r>
                <a:r>
                  <a:rPr lang="en-US" sz="1200" dirty="0"/>
                  <a:t>. </a:t>
                </a:r>
              </a:p>
              <a:p>
                <a:pPr marL="115888" indent="2381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200" dirty="0"/>
                  <a:t>	: </a:t>
                </a:r>
                <a:r>
                  <a:rPr lang="en-US" sz="1200" dirty="0" err="1"/>
                  <a:t>jumlah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kolom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dari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citra</a:t>
                </a:r>
                <a:r>
                  <a:rPr lang="en-US" sz="1200" dirty="0"/>
                  <a:t>.</a:t>
                </a:r>
              </a:p>
              <a:p>
                <a:pPr marL="115888" indent="23813" algn="l">
                  <a:lnSpc>
                    <a:spcPct val="150000"/>
                  </a:lnSpc>
                </a:pPr>
                <a:endParaRPr lang="en-US" sz="1200" dirty="0"/>
              </a:p>
            </p:txBody>
          </p:sp>
        </mc:Choice>
        <mc:Fallback xmlns="">
          <p:sp>
            <p:nvSpPr>
              <p:cNvPr id="10" name="Google Shape;187;p38">
                <a:extLst>
                  <a:ext uri="{FF2B5EF4-FFF2-40B4-BE49-F238E27FC236}">
                    <a16:creationId xmlns:a16="http://schemas.microsoft.com/office/drawing/2014/main" id="{3907DF11-BF7D-7704-F390-505FA7DC4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88" y="3071560"/>
                <a:ext cx="8367220" cy="15427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87;p38">
                <a:extLst>
                  <a:ext uri="{FF2B5EF4-FFF2-40B4-BE49-F238E27FC236}">
                    <a16:creationId xmlns:a16="http://schemas.microsoft.com/office/drawing/2014/main" id="{5B48A26A-7606-239B-A8E2-0315AF95B4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8389" y="2005793"/>
                <a:ext cx="8367220" cy="98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Google Shape;187;p38">
                <a:extLst>
                  <a:ext uri="{FF2B5EF4-FFF2-40B4-BE49-F238E27FC236}">
                    <a16:creationId xmlns:a16="http://schemas.microsoft.com/office/drawing/2014/main" id="{5B48A26A-7606-239B-A8E2-0315AF95B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89" y="2005793"/>
                <a:ext cx="8367220" cy="985760"/>
              </a:xfrm>
              <a:prstGeom prst="rect">
                <a:avLst/>
              </a:prstGeom>
              <a:blipFill>
                <a:blip r:embed="rId4"/>
                <a:stretch>
                  <a:fillRect b="-49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430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556681BE-4B45-7025-17CC-8DB02786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4E913710-C077-9C91-B84F-A0F69A9FE4DF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8" y="383255"/>
            <a:ext cx="6168076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Metodologi Penelitian[2]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161521AF-0A10-94B5-D259-D0E2269C1E0E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F9EB0380-E4C5-BC40-FD4A-535607707078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B7EC657D-5D06-8438-9663-C3206A4FA29F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A5E5B66D-DB5A-0979-799F-EDF44AC1548E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p:sp>
        <p:nvSpPr>
          <p:cNvPr id="4" name="Google Shape;187;p38">
            <a:extLst>
              <a:ext uri="{FF2B5EF4-FFF2-40B4-BE49-F238E27FC236}">
                <a16:creationId xmlns:a16="http://schemas.microsoft.com/office/drawing/2014/main" id="{61819B4C-AF24-5B08-B47A-796A02CA1D8E}"/>
              </a:ext>
            </a:extLst>
          </p:cNvPr>
          <p:cNvSpPr txBox="1">
            <a:spLocks/>
          </p:cNvSpPr>
          <p:nvPr/>
        </p:nvSpPr>
        <p:spPr>
          <a:xfrm>
            <a:off x="242088" y="1346905"/>
            <a:ext cx="8367220" cy="74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metode</a:t>
            </a:r>
            <a:r>
              <a:rPr lang="en-US" sz="1200" dirty="0"/>
              <a:t>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kepustakaan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studi</a:t>
            </a:r>
            <a:r>
              <a:rPr lang="en-US" sz="1200" dirty="0"/>
              <a:t> </a:t>
            </a:r>
            <a:r>
              <a:rPr lang="en-US" sz="1200" dirty="0" err="1"/>
              <a:t>pustaka</a:t>
            </a:r>
            <a:r>
              <a:rPr lang="en-US" sz="1200" dirty="0"/>
              <a:t>. </a:t>
            </a:r>
            <a:r>
              <a:rPr lang="en-US" sz="1200" dirty="0" err="1"/>
              <a:t>Kutipan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diperoleh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buku</a:t>
            </a:r>
            <a:r>
              <a:rPr lang="en-US" sz="1200" dirty="0"/>
              <a:t>, </a:t>
            </a:r>
            <a:r>
              <a:rPr lang="en-US" sz="1200" dirty="0" err="1"/>
              <a:t>artikel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skripsi-skripsi</a:t>
            </a:r>
            <a:r>
              <a:rPr lang="en-US" sz="1200" dirty="0"/>
              <a:t> </a:t>
            </a:r>
            <a:r>
              <a:rPr lang="en-US" sz="1200" dirty="0" err="1"/>
              <a:t>terdahulu</a:t>
            </a:r>
            <a:r>
              <a:rPr lang="en-US" sz="1200" dirty="0"/>
              <a:t> dan </a:t>
            </a:r>
            <a:r>
              <a:rPr lang="en-US" sz="1200" dirty="0" err="1"/>
              <a:t>dikumpulkan</a:t>
            </a:r>
            <a:r>
              <a:rPr lang="en-US" sz="1200" dirty="0"/>
              <a:t> </a:t>
            </a:r>
            <a:r>
              <a:rPr lang="en-US" sz="1200" dirty="0" err="1"/>
              <a:t>sesuai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judul</a:t>
            </a:r>
            <a:r>
              <a:rPr lang="en-US" sz="1200" dirty="0"/>
              <a:t>.</a:t>
            </a:r>
          </a:p>
        </p:txBody>
      </p:sp>
      <p:sp>
        <p:nvSpPr>
          <p:cNvPr id="3" name="Google Shape;250;p44">
            <a:extLst>
              <a:ext uri="{FF2B5EF4-FFF2-40B4-BE49-F238E27FC236}">
                <a16:creationId xmlns:a16="http://schemas.microsoft.com/office/drawing/2014/main" id="{860F677E-5E59-180F-8B40-0A8D5FAF36FC}"/>
              </a:ext>
            </a:extLst>
          </p:cNvPr>
          <p:cNvSpPr txBox="1">
            <a:spLocks/>
          </p:cNvSpPr>
          <p:nvPr/>
        </p:nvSpPr>
        <p:spPr>
          <a:xfrm>
            <a:off x="362265" y="1112927"/>
            <a:ext cx="5635579" cy="31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800" b="1" dirty="0"/>
              <a:t>Jenis </a:t>
            </a:r>
            <a:r>
              <a:rPr lang="en-US" sz="1800" b="1" dirty="0" err="1"/>
              <a:t>Penelitian</a:t>
            </a:r>
            <a:endParaRPr lang="en-US" sz="18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187;p38">
                <a:extLst>
                  <a:ext uri="{FF2B5EF4-FFF2-40B4-BE49-F238E27FC236}">
                    <a16:creationId xmlns:a16="http://schemas.microsoft.com/office/drawing/2014/main" id="{A6913F98-93AB-7610-C46C-3235C5B940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7224" y="2438389"/>
                <a:ext cx="8367220" cy="743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115888" indent="23813" algn="l">
                  <a:lnSpc>
                    <a:spcPct val="150000"/>
                  </a:lnSpc>
                </a:pPr>
                <a:r>
                  <a:rPr lang="en-US" sz="1200" dirty="0"/>
                  <a:t>Data yang </a:t>
                </a:r>
                <a:r>
                  <a:rPr lang="en-US" sz="1200" dirty="0" err="1"/>
                  <a:t>digunakan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dalam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penelitian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berupa</a:t>
                </a:r>
                <a:r>
                  <a:rPr lang="en-US" sz="1200" dirty="0"/>
                  <a:t> data </a:t>
                </a:r>
                <a:r>
                  <a:rPr lang="en-US" sz="1200" dirty="0" err="1"/>
                  <a:t>citra</a:t>
                </a:r>
                <a:r>
                  <a:rPr lang="en-US" sz="1200" dirty="0"/>
                  <a:t> digital yang </a:t>
                </a:r>
                <a:r>
                  <a:rPr lang="en-US" sz="1200" dirty="0" err="1"/>
                  <a:t>berukuran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256×256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piksel</a:t>
                </a:r>
                <a:r>
                  <a:rPr lang="en-US" sz="1200" dirty="0"/>
                  <a:t> dan format </a:t>
                </a:r>
                <a:r>
                  <a:rPr lang="en-US" sz="1200" dirty="0" err="1"/>
                  <a:t>citra</a:t>
                </a:r>
                <a:r>
                  <a:rPr lang="en-US" sz="1200" dirty="0"/>
                  <a:t> </a:t>
                </a:r>
                <a:r>
                  <a:rPr lang="en-US" sz="1200" i="1" dirty="0"/>
                  <a:t>*.jpg</a:t>
                </a:r>
                <a:r>
                  <a:rPr lang="en-US" sz="1200" dirty="0"/>
                  <a:t> yang </a:t>
                </a:r>
                <a:r>
                  <a:rPr lang="en-US" sz="1200" dirty="0" err="1"/>
                  <a:t>diperoleh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dari</a:t>
                </a:r>
                <a:r>
                  <a:rPr lang="en-US" sz="1200" dirty="0"/>
                  <a:t> </a:t>
                </a:r>
                <a:r>
                  <a:rPr lang="en-US" sz="1200" i="1" dirty="0"/>
                  <a:t>standard image test</a:t>
                </a:r>
                <a:r>
                  <a:rPr lang="en-US" sz="1200" dirty="0"/>
                  <a:t>.</a:t>
                </a:r>
              </a:p>
            </p:txBody>
          </p:sp>
        </mc:Choice>
        <mc:Fallback xmlns="">
          <p:sp>
            <p:nvSpPr>
              <p:cNvPr id="11" name="Google Shape;187;p38">
                <a:extLst>
                  <a:ext uri="{FF2B5EF4-FFF2-40B4-BE49-F238E27FC236}">
                    <a16:creationId xmlns:a16="http://schemas.microsoft.com/office/drawing/2014/main" id="{A6913F98-93AB-7610-C46C-3235C5B94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24" y="2438389"/>
                <a:ext cx="8367220" cy="7432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50;p44">
            <a:extLst>
              <a:ext uri="{FF2B5EF4-FFF2-40B4-BE49-F238E27FC236}">
                <a16:creationId xmlns:a16="http://schemas.microsoft.com/office/drawing/2014/main" id="{AB82AE4B-3BB0-A528-E274-7EA7291CCAC3}"/>
              </a:ext>
            </a:extLst>
          </p:cNvPr>
          <p:cNvSpPr txBox="1">
            <a:spLocks/>
          </p:cNvSpPr>
          <p:nvPr/>
        </p:nvSpPr>
        <p:spPr>
          <a:xfrm>
            <a:off x="307401" y="2220869"/>
            <a:ext cx="5635579" cy="31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800" b="1" dirty="0"/>
              <a:t>Jenis dan </a:t>
            </a:r>
            <a:r>
              <a:rPr lang="en-US" sz="1800" b="1" dirty="0" err="1"/>
              <a:t>Sumber</a:t>
            </a:r>
            <a:r>
              <a:rPr lang="en-US" sz="1800" b="1" dirty="0"/>
              <a:t> Data</a:t>
            </a:r>
            <a:endParaRPr lang="en-US" sz="1800" b="1" i="1" dirty="0"/>
          </a:p>
        </p:txBody>
      </p:sp>
      <p:sp>
        <p:nvSpPr>
          <p:cNvPr id="16" name="Google Shape;187;p38">
            <a:extLst>
              <a:ext uri="{FF2B5EF4-FFF2-40B4-BE49-F238E27FC236}">
                <a16:creationId xmlns:a16="http://schemas.microsoft.com/office/drawing/2014/main" id="{37D9D006-D482-F9CC-5D25-84628ADF7C08}"/>
              </a:ext>
            </a:extLst>
          </p:cNvPr>
          <p:cNvSpPr txBox="1">
            <a:spLocks/>
          </p:cNvSpPr>
          <p:nvPr/>
        </p:nvSpPr>
        <p:spPr>
          <a:xfrm>
            <a:off x="187224" y="3644387"/>
            <a:ext cx="8367220" cy="74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15888" indent="23813" algn="l">
              <a:lnSpc>
                <a:spcPct val="150000"/>
              </a:lnSpc>
            </a:pPr>
            <a:r>
              <a:rPr lang="en-US" sz="1200" dirty="0"/>
              <a:t>Data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 </a:t>
            </a:r>
            <a:r>
              <a:rPr lang="en-US" sz="1200" dirty="0" err="1"/>
              <a:t>diambil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standard image test, pada </a:t>
            </a:r>
            <a:r>
              <a:rPr lang="en-US" sz="1200" dirty="0" err="1"/>
              <a:t>bulan</a:t>
            </a:r>
            <a:r>
              <a:rPr lang="en-US" sz="1200" dirty="0"/>
              <a:t> Oktober 2025.</a:t>
            </a:r>
          </a:p>
        </p:txBody>
      </p:sp>
      <p:sp>
        <p:nvSpPr>
          <p:cNvPr id="17" name="Google Shape;250;p44">
            <a:extLst>
              <a:ext uri="{FF2B5EF4-FFF2-40B4-BE49-F238E27FC236}">
                <a16:creationId xmlns:a16="http://schemas.microsoft.com/office/drawing/2014/main" id="{DB11CED5-F1BF-0411-286B-557367644640}"/>
              </a:ext>
            </a:extLst>
          </p:cNvPr>
          <p:cNvSpPr txBox="1">
            <a:spLocks/>
          </p:cNvSpPr>
          <p:nvPr/>
        </p:nvSpPr>
        <p:spPr>
          <a:xfrm>
            <a:off x="307401" y="3426867"/>
            <a:ext cx="5635579" cy="31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800" b="1" dirty="0"/>
              <a:t>Waktu dan </a:t>
            </a:r>
            <a:r>
              <a:rPr lang="en-US" sz="1800" b="1" dirty="0" err="1"/>
              <a:t>Tempat</a:t>
            </a:r>
            <a:r>
              <a:rPr lang="en-US" sz="1800" b="1" dirty="0"/>
              <a:t> </a:t>
            </a:r>
            <a:r>
              <a:rPr lang="en-US" sz="1800" b="1" dirty="0" err="1"/>
              <a:t>Pengambilan</a:t>
            </a:r>
            <a:r>
              <a:rPr lang="en-US" sz="1800" b="1" dirty="0"/>
              <a:t> Data</a:t>
            </a:r>
            <a:endParaRPr lang="en-US" sz="1800" b="1" i="1" dirty="0"/>
          </a:p>
        </p:txBody>
      </p:sp>
    </p:spTree>
    <p:extLst>
      <p:ext uri="{BB962C8B-B14F-4D97-AF65-F5344CB8AC3E}">
        <p14:creationId xmlns:p14="http://schemas.microsoft.com/office/powerpoint/2010/main" val="1326452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1D31969A-5DBD-B006-A308-83866AD5A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>
            <a:extLst>
              <a:ext uri="{FF2B5EF4-FFF2-40B4-BE49-F238E27FC236}">
                <a16:creationId xmlns:a16="http://schemas.microsoft.com/office/drawing/2014/main" id="{628FA255-AAA3-8348-3066-D989E108560B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318068" y="383255"/>
            <a:ext cx="6168076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b="1" dirty="0"/>
              <a:t>Metodologi Penelitian[1]</a:t>
            </a:r>
            <a:endParaRPr b="1" dirty="0"/>
          </a:p>
        </p:txBody>
      </p:sp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E98238A5-8443-4B3C-9900-704F77BCF9D6}"/>
              </a:ext>
            </a:extLst>
          </p:cNvPr>
          <p:cNvSpPr/>
          <p:nvPr/>
        </p:nvSpPr>
        <p:spPr>
          <a:xfrm>
            <a:off x="0" y="4853940"/>
            <a:ext cx="9144000" cy="28956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5;p38">
            <a:extLst>
              <a:ext uri="{FF2B5EF4-FFF2-40B4-BE49-F238E27FC236}">
                <a16:creationId xmlns:a16="http://schemas.microsoft.com/office/drawing/2014/main" id="{7D424652-5EFE-F973-7782-386E6E9F5D10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5DC413A8-A934-83D9-6900-54D34C446A26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71839145-5473-885E-7041-9BD5ABC42105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chemeClr val="tx1"/>
                </a:solidFill>
              </a:rPr>
              <a:t>UIN Alauddin Makassar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87;p38">
                <a:extLst>
                  <a:ext uri="{FF2B5EF4-FFF2-40B4-BE49-F238E27FC236}">
                    <a16:creationId xmlns:a16="http://schemas.microsoft.com/office/drawing/2014/main" id="{D0D40D21-1C0E-1161-A6F6-8EF339AF88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2088" y="1346905"/>
                <a:ext cx="8367220" cy="3108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1"/>
                    </a:solidFill>
                    <a:latin typeface="Karla"/>
                    <a:ea typeface="Karla"/>
                    <a:cs typeface="Karla"/>
                    <a:sym typeface="Karla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400"/>
                  <a:buFont typeface="Karla"/>
                  <a:buNone/>
                  <a:defRPr sz="1400" b="0" i="0" u="none" strike="noStrike" cap="none">
                    <a:solidFill>
                      <a:schemeClr val="lt2"/>
                    </a:solidFill>
                    <a:latin typeface="Karla"/>
                    <a:ea typeface="Karla"/>
                    <a:cs typeface="Karla"/>
                    <a:sym typeface="Karla"/>
                  </a:defRPr>
                </a:lvl9pPr>
              </a:lstStyle>
              <a:p>
                <a:pPr marL="344488" indent="-228600" algn="l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Mengumpulkan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citra</a:t>
                </a:r>
                <a:r>
                  <a:rPr lang="en-US" sz="1200" dirty="0">
                    <a:solidFill>
                      <a:schemeClr val="bg1"/>
                    </a:solidFill>
                  </a:rPr>
                  <a:t> digital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berwarna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berukuran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×256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</a:rPr>
                  <a:t> format </a:t>
                </a:r>
                <a:r>
                  <a:rPr lang="en-US" sz="1200" i="1" dirty="0">
                    <a:solidFill>
                      <a:schemeClr val="bg1"/>
                    </a:solidFill>
                  </a:rPr>
                  <a:t>.jpg</a:t>
                </a:r>
              </a:p>
              <a:p>
                <a:pPr marL="344488" indent="-228600" algn="l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Membangkitkan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kunci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i="1" dirty="0">
                    <a:solidFill>
                      <a:schemeClr val="bg1"/>
                    </a:solidFill>
                  </a:rPr>
                  <a:t>Advance Hill Cipher</a:t>
                </a:r>
              </a:p>
              <a:p>
                <a:pPr marL="344488" indent="-228600" algn="l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Membentuk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kunci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publik</a:t>
                </a:r>
                <a:r>
                  <a:rPr lang="en-US" sz="1200" dirty="0">
                    <a:solidFill>
                      <a:schemeClr val="bg1"/>
                    </a:solidFill>
                  </a:rPr>
                  <a:t> dan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privat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i="1" dirty="0">
                    <a:solidFill>
                      <a:schemeClr val="bg1"/>
                    </a:solidFill>
                  </a:rPr>
                  <a:t>ElGamal</a:t>
                </a:r>
              </a:p>
              <a:p>
                <a:pPr marL="344488" indent="-228600" algn="l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Mengenkripsi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citra</a:t>
                </a:r>
                <a:r>
                  <a:rPr lang="en-US" sz="1200" dirty="0">
                    <a:solidFill>
                      <a:schemeClr val="bg1"/>
                    </a:solidFill>
                  </a:rPr>
                  <a:t> digital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menggunakan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i="1" dirty="0">
                    <a:solidFill>
                      <a:schemeClr val="bg1"/>
                    </a:solidFill>
                  </a:rPr>
                  <a:t>Advance Hill Cipher</a:t>
                </a:r>
              </a:p>
              <a:p>
                <a:pPr marL="344488" indent="-228600" algn="l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Mengenkripsi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matriks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kunci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menggunakan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i="1" dirty="0">
                    <a:solidFill>
                      <a:schemeClr val="bg1"/>
                    </a:solidFill>
                  </a:rPr>
                  <a:t>ElGamal</a:t>
                </a:r>
              </a:p>
              <a:p>
                <a:pPr marL="344488" indent="-228600" algn="l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nb-NO" sz="1200" dirty="0">
                    <a:solidFill>
                      <a:schemeClr val="bg1"/>
                    </a:solidFill>
                  </a:rPr>
                  <a:t>Mendekripsi matriks kunci menggunakan </a:t>
                </a:r>
                <a:r>
                  <a:rPr lang="nb-NO" sz="1200" i="1" dirty="0">
                    <a:solidFill>
                      <a:schemeClr val="bg1"/>
                    </a:solidFill>
                  </a:rPr>
                  <a:t>ElGamal</a:t>
                </a:r>
              </a:p>
              <a:p>
                <a:pPr marL="344488" indent="-228600" algn="l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Mendekripsi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citra</a:t>
                </a:r>
                <a:r>
                  <a:rPr lang="en-US" sz="1200" dirty="0">
                    <a:solidFill>
                      <a:schemeClr val="bg1"/>
                    </a:solidFill>
                  </a:rPr>
                  <a:t> digital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menggunakan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i="1" dirty="0">
                    <a:solidFill>
                      <a:schemeClr val="bg1"/>
                    </a:solidFill>
                  </a:rPr>
                  <a:t>Advance Hill Cipher</a:t>
                </a:r>
              </a:p>
              <a:p>
                <a:pPr marL="344488" indent="-228600" algn="l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Evaluasi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citra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hasil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dekripsi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dengan</a:t>
                </a:r>
                <a:r>
                  <a:rPr lang="en-US" sz="1200" dirty="0">
                    <a:solidFill>
                      <a:schemeClr val="bg1"/>
                    </a:solidFill>
                  </a:rPr>
                  <a:t> SSIM, PSNR, dan MSE</a:t>
                </a:r>
              </a:p>
              <a:p>
                <a:pPr marL="115888" lvl="1" indent="0" algn="l">
                  <a:lnSpc>
                    <a:spcPct val="150000"/>
                  </a:lnSpc>
                </a:pPr>
                <a:endParaRPr lang="en-US" sz="1200" dirty="0">
                  <a:solidFill>
                    <a:schemeClr val="bg1"/>
                  </a:solidFill>
                </a:endParaRPr>
              </a:p>
              <a:p>
                <a:pPr marL="573088" lvl="1" indent="0" algn="l">
                  <a:lnSpc>
                    <a:spcPct val="150000"/>
                  </a:lnSpc>
                </a:pP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Google Shape;187;p38">
                <a:extLst>
                  <a:ext uri="{FF2B5EF4-FFF2-40B4-BE49-F238E27FC236}">
                    <a16:creationId xmlns:a16="http://schemas.microsoft.com/office/drawing/2014/main" id="{D0D40D21-1C0E-1161-A6F6-8EF339AF8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88" y="1346905"/>
                <a:ext cx="8367220" cy="31088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250;p44">
            <a:extLst>
              <a:ext uri="{FF2B5EF4-FFF2-40B4-BE49-F238E27FC236}">
                <a16:creationId xmlns:a16="http://schemas.microsoft.com/office/drawing/2014/main" id="{0522997C-AC55-3354-F33C-9C57BEA7E850}"/>
              </a:ext>
            </a:extLst>
          </p:cNvPr>
          <p:cNvSpPr txBox="1">
            <a:spLocks/>
          </p:cNvSpPr>
          <p:nvPr/>
        </p:nvSpPr>
        <p:spPr>
          <a:xfrm>
            <a:off x="362265" y="1112927"/>
            <a:ext cx="5635579" cy="31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800" b="1" dirty="0" err="1"/>
              <a:t>Prosedur</a:t>
            </a:r>
            <a:r>
              <a:rPr lang="en-US" sz="1800" b="1" dirty="0"/>
              <a:t> </a:t>
            </a:r>
            <a:r>
              <a:rPr lang="en-US" sz="1800" b="1" dirty="0" err="1"/>
              <a:t>Penelitian</a:t>
            </a:r>
            <a:endParaRPr lang="en-US" sz="1800" b="1" i="1" dirty="0"/>
          </a:p>
        </p:txBody>
      </p:sp>
    </p:spTree>
    <p:extLst>
      <p:ext uri="{BB962C8B-B14F-4D97-AF65-F5344CB8AC3E}">
        <p14:creationId xmlns:p14="http://schemas.microsoft.com/office/powerpoint/2010/main" val="3889666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4BE83274-756C-2506-F6AB-7FCBBE30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5;p38">
            <a:extLst>
              <a:ext uri="{FF2B5EF4-FFF2-40B4-BE49-F238E27FC236}">
                <a16:creationId xmlns:a16="http://schemas.microsoft.com/office/drawing/2014/main" id="{D45629DF-6923-C0A5-E44D-AF6E7DD913B0}"/>
              </a:ext>
            </a:extLst>
          </p:cNvPr>
          <p:cNvSpPr/>
          <p:nvPr/>
        </p:nvSpPr>
        <p:spPr>
          <a:xfrm>
            <a:off x="0" y="-111760"/>
            <a:ext cx="9144000" cy="4993800"/>
          </a:xfrm>
          <a:prstGeom prst="rect">
            <a:avLst/>
          </a:prstGeom>
          <a:solidFill>
            <a:srgbClr val="3275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187;p38">
            <a:extLst>
              <a:ext uri="{FF2B5EF4-FFF2-40B4-BE49-F238E27FC236}">
                <a16:creationId xmlns:a16="http://schemas.microsoft.com/office/drawing/2014/main" id="{086C4838-117F-6B35-60BC-B9AD75E9E6D2}"/>
              </a:ext>
            </a:extLst>
          </p:cNvPr>
          <p:cNvSpPr txBox="1">
            <a:spLocks/>
          </p:cNvSpPr>
          <p:nvPr/>
        </p:nvSpPr>
        <p:spPr>
          <a:xfrm>
            <a:off x="16767" y="4882040"/>
            <a:ext cx="2149486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rgbClr val="32754C"/>
                </a:solidFill>
              </a:rPr>
              <a:t>Muh. Afrizal Nur / 60600122061</a:t>
            </a:r>
          </a:p>
        </p:txBody>
      </p:sp>
      <p:sp>
        <p:nvSpPr>
          <p:cNvPr id="24" name="Google Shape;187;p38">
            <a:extLst>
              <a:ext uri="{FF2B5EF4-FFF2-40B4-BE49-F238E27FC236}">
                <a16:creationId xmlns:a16="http://schemas.microsoft.com/office/drawing/2014/main" id="{6A5C2100-B980-B11A-18D3-5E47D253C316}"/>
              </a:ext>
            </a:extLst>
          </p:cNvPr>
          <p:cNvSpPr txBox="1">
            <a:spLocks/>
          </p:cNvSpPr>
          <p:nvPr/>
        </p:nvSpPr>
        <p:spPr>
          <a:xfrm>
            <a:off x="7350760" y="4853940"/>
            <a:ext cx="1704340" cy="23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lt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50000"/>
              </a:lnSpc>
            </a:pPr>
            <a:r>
              <a:rPr lang="en-US" sz="1000" dirty="0">
                <a:solidFill>
                  <a:srgbClr val="32754C"/>
                </a:solidFill>
              </a:rPr>
              <a:t>UIN Alauddin Makassar</a:t>
            </a:r>
          </a:p>
        </p:txBody>
      </p:sp>
      <p:sp>
        <p:nvSpPr>
          <p:cNvPr id="7" name="Google Shape;250;p44">
            <a:extLst>
              <a:ext uri="{FF2B5EF4-FFF2-40B4-BE49-F238E27FC236}">
                <a16:creationId xmlns:a16="http://schemas.microsoft.com/office/drawing/2014/main" id="{1C9DBA46-E1AC-D127-B044-4B149A117B75}"/>
              </a:ext>
            </a:extLst>
          </p:cNvPr>
          <p:cNvSpPr txBox="1">
            <a:spLocks/>
          </p:cNvSpPr>
          <p:nvPr/>
        </p:nvSpPr>
        <p:spPr>
          <a:xfrm>
            <a:off x="1487962" y="2004017"/>
            <a:ext cx="616807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Epilogue"/>
              <a:buNone/>
              <a:defRPr sz="2800" b="0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6600" b="1" dirty="0" err="1">
                <a:solidFill>
                  <a:schemeClr val="tx1"/>
                </a:solidFill>
              </a:rPr>
              <a:t>Terima</a:t>
            </a:r>
            <a:r>
              <a:rPr lang="en-US" sz="6600" b="1" dirty="0">
                <a:solidFill>
                  <a:schemeClr val="tx1"/>
                </a:solidFill>
              </a:rPr>
              <a:t> Kasih</a:t>
            </a:r>
          </a:p>
        </p:txBody>
      </p:sp>
      <p:sp>
        <p:nvSpPr>
          <p:cNvPr id="8" name="Google Shape;185;p38">
            <a:extLst>
              <a:ext uri="{FF2B5EF4-FFF2-40B4-BE49-F238E27FC236}">
                <a16:creationId xmlns:a16="http://schemas.microsoft.com/office/drawing/2014/main" id="{38FD4564-2833-E76C-B3D0-09170AE64250}"/>
              </a:ext>
            </a:extLst>
          </p:cNvPr>
          <p:cNvSpPr/>
          <p:nvPr/>
        </p:nvSpPr>
        <p:spPr>
          <a:xfrm>
            <a:off x="6926580" y="87229"/>
            <a:ext cx="2301240" cy="2122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854608"/>
      </p:ext>
    </p:extLst>
  </p:cSld>
  <p:clrMapOvr>
    <a:masterClrMapping/>
  </p:clrMapOvr>
</p:sld>
</file>

<file path=ppt/theme/theme1.xml><?xml version="1.0" encoding="utf-8"?>
<a:theme xmlns:a="http://schemas.openxmlformats.org/drawingml/2006/main" name="Impact of Digital Economy on Small Businesses by Slidesgo">
  <a:themeElements>
    <a:clrScheme name="Simple Light">
      <a:dk1>
        <a:srgbClr val="FAFAFA"/>
      </a:dk1>
      <a:lt1>
        <a:srgbClr val="181818"/>
      </a:lt1>
      <a:dk2>
        <a:srgbClr val="F9E500"/>
      </a:dk2>
      <a:lt2>
        <a:srgbClr val="666666"/>
      </a:lt2>
      <a:accent1>
        <a:srgbClr val="FFF25A"/>
      </a:accent1>
      <a:accent2>
        <a:srgbClr val="FFF798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1888</Words>
  <Application>Microsoft Office PowerPoint</Application>
  <PresentationFormat>On-screen Show (16:9)</PresentationFormat>
  <Paragraphs>202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Cambria Math</vt:lpstr>
      <vt:lpstr>Karla</vt:lpstr>
      <vt:lpstr>Epilogue</vt:lpstr>
      <vt:lpstr>Impact of Digital Economy on Small Businesses by Slidesgo</vt:lpstr>
      <vt:lpstr>SEMINAR</vt:lpstr>
      <vt:lpstr>Latar Belakang [1]</vt:lpstr>
      <vt:lpstr>Latar Belakang [2]</vt:lpstr>
      <vt:lpstr>Latar Belakang [3]</vt:lpstr>
      <vt:lpstr>Rumusan Masalah</vt:lpstr>
      <vt:lpstr>Manfaat Penelitian</vt:lpstr>
      <vt:lpstr>Tinjauan Pustaka [1]</vt:lpstr>
      <vt:lpstr>Tinjauan Pustaka [2]</vt:lpstr>
      <vt:lpstr>Tinjauan Pustaka [3]</vt:lpstr>
      <vt:lpstr>Tinjauan Pustaka [4]</vt:lpstr>
      <vt:lpstr>Tinjauan Pustaka [5]</vt:lpstr>
      <vt:lpstr>Tinjauan Pustaka [6]</vt:lpstr>
      <vt:lpstr>Tinjauan Pustaka [7]</vt:lpstr>
      <vt:lpstr>Tinjauan Pustaka [8]</vt:lpstr>
      <vt:lpstr>Tinjauan Pustaka [9]</vt:lpstr>
      <vt:lpstr>Tinjauan Pustaka [10]</vt:lpstr>
      <vt:lpstr>Metodologi Penelitian[2]</vt:lpstr>
      <vt:lpstr>Metodologi Penelitian[1]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Afrizal</cp:lastModifiedBy>
  <cp:revision>4</cp:revision>
  <dcterms:modified xsi:type="dcterms:W3CDTF">2025-10-28T12:30:25Z</dcterms:modified>
</cp:coreProperties>
</file>